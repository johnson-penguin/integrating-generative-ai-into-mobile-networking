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y="5143500" cx="9144000"/>
  <p:notesSz cx="6858000" cy="9144000"/>
  <p:embeddedFontLst>
    <p:embeddedFont>
      <p:font typeface="Roboto Mono"/>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152A0E9-F04C-4503-8BFE-9D92DF60B9FD}">
  <a:tblStyle styleId="{E152A0E9-F04C-4503-8BFE-9D92DF60B9F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RobotoMono-bold.fntdata"/><Relationship Id="rId47" Type="http://schemas.openxmlformats.org/officeDocument/2006/relationships/font" Target="fonts/RobotoMono-regular.fntdata"/><Relationship Id="rId49" Type="http://schemas.openxmlformats.org/officeDocument/2006/relationships/font" Target="fonts/RobotoMon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0" Type="http://schemas.openxmlformats.org/officeDocument/2006/relationships/font" Target="fonts/RobotoMono-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5ad6901fb5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5ad6901fb5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5ce8284777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5ce8284777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5ce828477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5ce828477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教授建議</a:t>
            </a:r>
            <a:endParaRPr/>
          </a:p>
          <a:p>
            <a:pPr indent="0" lvl="0" marL="0" rtl="0" algn="l">
              <a:spcBef>
                <a:spcPts val="0"/>
              </a:spcBef>
              <a:spcAft>
                <a:spcPts val="0"/>
              </a:spcAft>
              <a:buClr>
                <a:schemeClr val="dk1"/>
              </a:buClr>
              <a:buSzPts val="1100"/>
              <a:buFont typeface="Arial"/>
              <a:buNone/>
            </a:pPr>
            <a:r>
              <a:rPr lang="zh-TW"/>
              <a:t>1. 你點出兩大挑戰，在貢獻部分，是否有機會更明確的說明你提出什麼方法來解決每一個挑戰？</a:t>
            </a:r>
            <a:endParaRPr/>
          </a:p>
          <a:p>
            <a:pPr indent="0" lvl="0" marL="0" rtl="0" algn="l">
              <a:spcBef>
                <a:spcPts val="0"/>
              </a:spcBef>
              <a:spcAft>
                <a:spcPts val="0"/>
              </a:spcAft>
              <a:buClr>
                <a:schemeClr val="dk1"/>
              </a:buClr>
              <a:buSzPts val="1100"/>
              <a:buFont typeface="Arial"/>
              <a:buNone/>
            </a:pPr>
            <a:r>
              <a:rPr lang="zh-TW"/>
              <a:t>2. 你要解決的問題，可以用什麼performance metric來量化你的貢獻？</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5d43bc7c0d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5d43bc7c0d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修改引用格式</a:t>
            </a:r>
            <a:endParaRPr/>
          </a:p>
          <a:p>
            <a:pPr indent="0" lvl="0" marL="0" rtl="0" algn="l">
              <a:spcBef>
                <a:spcPts val="0"/>
              </a:spcBef>
              <a:spcAft>
                <a:spcPts val="0"/>
              </a:spcAft>
              <a:buNone/>
            </a:pPr>
            <a:r>
              <a:rPr lang="zh-TW"/>
              <a:t>[1] B. Bertenyi et al., “5G NR Radio Interface,” Journal of ICT Standardization, vol. 6, no. 1, pp. 31–58, 2018, doi: https://doi.org/10.13052/jicts2245-800x.613.</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5e12befab1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5e12befab1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5e12befab1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5e12befab1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5e12befab1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5e12befab1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5ce8284777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5ce8284777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5e12befab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5e12befab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5ce8284777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5ce8284777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zh-TW"/>
              <a:t>先用一張圖說明目前的測試架構，以及各自所使用之軟硬體。</a:t>
            </a:r>
            <a:endParaRPr/>
          </a:p>
          <a:p>
            <a:pPr indent="-298450" lvl="0" marL="457200" rtl="0" algn="l">
              <a:spcBef>
                <a:spcPts val="0"/>
              </a:spcBef>
              <a:spcAft>
                <a:spcPts val="0"/>
              </a:spcAft>
              <a:buSzPts val="1100"/>
              <a:buAutoNum type="arabicPeriod"/>
            </a:pPr>
            <a:r>
              <a:rPr lang="zh-TW"/>
              <a:t>說明VIAVI RIC Test設定的拓樸與參數為何。</a:t>
            </a:r>
            <a:endParaRPr/>
          </a:p>
          <a:p>
            <a:pPr indent="-298450" lvl="0" marL="457200" rtl="0" algn="l">
              <a:spcBef>
                <a:spcPts val="0"/>
              </a:spcBef>
              <a:spcAft>
                <a:spcPts val="0"/>
              </a:spcAft>
              <a:buSzPts val="1100"/>
              <a:buAutoNum type="arabicPeriod"/>
            </a:pPr>
            <a:r>
              <a:rPr lang="zh-TW"/>
              <a:t>根據各個Test Case說明其目的，與測試結果，並且分析。</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5ce8284777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5ce8284777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67925ee70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67925ee70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67925ee701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67925ee701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5d66f182cf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5d66f182cf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5d66f182cf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5d66f182cf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說明有幾項實驗，分別的目的為何</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5d66f182cf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5d66f182cf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zh-TW"/>
              <a:t>PS C:\Users\wasd0&gt; &amp; C:/Users/wasd0/AppData/Local/Programs/Python/Python310/python.exe c:/Users/wasd0/Desktop/test/test.py</a:t>
            </a:r>
            <a:endParaRPr/>
          </a:p>
          <a:p>
            <a:pPr indent="0" lvl="0" marL="0" rtl="0" algn="l">
              <a:spcBef>
                <a:spcPts val="0"/>
              </a:spcBef>
              <a:spcAft>
                <a:spcPts val="0"/>
              </a:spcAft>
              <a:buClr>
                <a:schemeClr val="dk1"/>
              </a:buClr>
              <a:buSzPts val="1100"/>
              <a:buFont typeface="Arial"/>
              <a:buNone/>
            </a:pPr>
            <a:r>
              <a:rPr lang="zh-TW"/>
              <a:t>01-ai/yi-large</a:t>
            </a:r>
            <a:endParaRPr/>
          </a:p>
          <a:p>
            <a:pPr indent="0" lvl="0" marL="0" rtl="0" algn="l">
              <a:spcBef>
                <a:spcPts val="0"/>
              </a:spcBef>
              <a:spcAft>
                <a:spcPts val="0"/>
              </a:spcAft>
              <a:buClr>
                <a:schemeClr val="dk1"/>
              </a:buClr>
              <a:buSzPts val="1100"/>
              <a:buFont typeface="Arial"/>
              <a:buNone/>
            </a:pPr>
            <a:r>
              <a:rPr lang="zh-TW"/>
              <a:t>abacusai/dracarys-llama-3.1-70b-instruct</a:t>
            </a:r>
            <a:endParaRPr/>
          </a:p>
          <a:p>
            <a:pPr indent="0" lvl="0" marL="0" rtl="0" algn="l">
              <a:spcBef>
                <a:spcPts val="0"/>
              </a:spcBef>
              <a:spcAft>
                <a:spcPts val="0"/>
              </a:spcAft>
              <a:buClr>
                <a:schemeClr val="dk1"/>
              </a:buClr>
              <a:buSzPts val="1100"/>
              <a:buFont typeface="Arial"/>
              <a:buNone/>
            </a:pPr>
            <a:r>
              <a:rPr lang="zh-TW"/>
              <a:t>adept/fuyu-8b</a:t>
            </a:r>
            <a:endParaRPr/>
          </a:p>
          <a:p>
            <a:pPr indent="0" lvl="0" marL="0" rtl="0" algn="l">
              <a:spcBef>
                <a:spcPts val="0"/>
              </a:spcBef>
              <a:spcAft>
                <a:spcPts val="0"/>
              </a:spcAft>
              <a:buClr>
                <a:schemeClr val="dk1"/>
              </a:buClr>
              <a:buSzPts val="1100"/>
              <a:buFont typeface="Arial"/>
              <a:buNone/>
            </a:pPr>
            <a:r>
              <a:rPr lang="zh-TW"/>
              <a:t>ai21labs/jamba-1.5-large-instruct       </a:t>
            </a:r>
            <a:endParaRPr/>
          </a:p>
          <a:p>
            <a:pPr indent="0" lvl="0" marL="0" rtl="0" algn="l">
              <a:spcBef>
                <a:spcPts val="0"/>
              </a:spcBef>
              <a:spcAft>
                <a:spcPts val="0"/>
              </a:spcAft>
              <a:buClr>
                <a:schemeClr val="dk1"/>
              </a:buClr>
              <a:buSzPts val="1100"/>
              <a:buFont typeface="Arial"/>
              <a:buNone/>
            </a:pPr>
            <a:r>
              <a:rPr lang="zh-TW"/>
              <a:t>ai21labs/jamba-1.5-mini-instruct        </a:t>
            </a:r>
            <a:endParaRPr/>
          </a:p>
          <a:p>
            <a:pPr indent="0" lvl="0" marL="0" rtl="0" algn="l">
              <a:spcBef>
                <a:spcPts val="0"/>
              </a:spcBef>
              <a:spcAft>
                <a:spcPts val="0"/>
              </a:spcAft>
              <a:buClr>
                <a:schemeClr val="dk1"/>
              </a:buClr>
              <a:buSzPts val="1100"/>
              <a:buFont typeface="Arial"/>
              <a:buNone/>
            </a:pPr>
            <a:r>
              <a:rPr lang="zh-TW"/>
              <a:t>aisingapore/sea-lion-7b-instruct        </a:t>
            </a:r>
            <a:endParaRPr/>
          </a:p>
          <a:p>
            <a:pPr indent="0" lvl="0" marL="0" rtl="0" algn="l">
              <a:spcBef>
                <a:spcPts val="0"/>
              </a:spcBef>
              <a:spcAft>
                <a:spcPts val="0"/>
              </a:spcAft>
              <a:buClr>
                <a:schemeClr val="dk1"/>
              </a:buClr>
              <a:buSzPts val="1100"/>
              <a:buFont typeface="Arial"/>
              <a:buNone/>
            </a:pPr>
            <a:r>
              <a:rPr lang="zh-TW"/>
              <a:t>baai/bge-m3</a:t>
            </a:r>
            <a:endParaRPr/>
          </a:p>
          <a:p>
            <a:pPr indent="0" lvl="0" marL="0" rtl="0" algn="l">
              <a:spcBef>
                <a:spcPts val="0"/>
              </a:spcBef>
              <a:spcAft>
                <a:spcPts val="0"/>
              </a:spcAft>
              <a:buClr>
                <a:schemeClr val="dk1"/>
              </a:buClr>
              <a:buSzPts val="1100"/>
              <a:buFont typeface="Arial"/>
              <a:buNone/>
            </a:pPr>
            <a:r>
              <a:rPr lang="zh-TW"/>
              <a:t>baichuan-inc/baichuan2-13b-chat</a:t>
            </a:r>
            <a:endParaRPr/>
          </a:p>
          <a:p>
            <a:pPr indent="0" lvl="0" marL="0" rtl="0" algn="l">
              <a:spcBef>
                <a:spcPts val="0"/>
              </a:spcBef>
              <a:spcAft>
                <a:spcPts val="0"/>
              </a:spcAft>
              <a:buClr>
                <a:schemeClr val="dk1"/>
              </a:buClr>
              <a:buSzPts val="1100"/>
              <a:buFont typeface="Arial"/>
              <a:buNone/>
            </a:pPr>
            <a:r>
              <a:rPr lang="zh-TW"/>
              <a:t>bigcode/starcoder2-15b</a:t>
            </a:r>
            <a:endParaRPr/>
          </a:p>
          <a:p>
            <a:pPr indent="0" lvl="0" marL="0" rtl="0" algn="l">
              <a:spcBef>
                <a:spcPts val="0"/>
              </a:spcBef>
              <a:spcAft>
                <a:spcPts val="0"/>
              </a:spcAft>
              <a:buClr>
                <a:schemeClr val="dk1"/>
              </a:buClr>
              <a:buSzPts val="1100"/>
              <a:buFont typeface="Arial"/>
              <a:buNone/>
            </a:pPr>
            <a:r>
              <a:rPr lang="zh-TW"/>
              <a:t>bigcode/starcoder2-7b</a:t>
            </a:r>
            <a:endParaRPr/>
          </a:p>
          <a:p>
            <a:pPr indent="0" lvl="0" marL="0" rtl="0" algn="l">
              <a:spcBef>
                <a:spcPts val="0"/>
              </a:spcBef>
              <a:spcAft>
                <a:spcPts val="0"/>
              </a:spcAft>
              <a:buClr>
                <a:schemeClr val="dk1"/>
              </a:buClr>
              <a:buSzPts val="1100"/>
              <a:buFont typeface="Arial"/>
              <a:buNone/>
            </a:pPr>
            <a:r>
              <a:rPr lang="zh-TW"/>
              <a:t>databricks/dbrx-instruct</a:t>
            </a:r>
            <a:endParaRPr/>
          </a:p>
          <a:p>
            <a:pPr indent="0" lvl="0" marL="0" rtl="0" algn="l">
              <a:spcBef>
                <a:spcPts val="0"/>
              </a:spcBef>
              <a:spcAft>
                <a:spcPts val="0"/>
              </a:spcAft>
              <a:buClr>
                <a:schemeClr val="dk1"/>
              </a:buClr>
              <a:buSzPts val="1100"/>
              <a:buFont typeface="Arial"/>
              <a:buNone/>
            </a:pPr>
            <a:r>
              <a:rPr lang="zh-TW"/>
              <a:t>deepseek-ai/deepseek-coder-6.7b-instruct</a:t>
            </a:r>
            <a:endParaRPr/>
          </a:p>
          <a:p>
            <a:pPr indent="0" lvl="0" marL="0" rtl="0" algn="l">
              <a:spcBef>
                <a:spcPts val="0"/>
              </a:spcBef>
              <a:spcAft>
                <a:spcPts val="0"/>
              </a:spcAft>
              <a:buClr>
                <a:schemeClr val="dk1"/>
              </a:buClr>
              <a:buSzPts val="1100"/>
              <a:buFont typeface="Arial"/>
              <a:buNone/>
            </a:pPr>
            <a:r>
              <a:rPr lang="zh-TW"/>
              <a:t>deepseek-ai/deepseek-r1</a:t>
            </a:r>
            <a:endParaRPr/>
          </a:p>
          <a:p>
            <a:pPr indent="0" lvl="0" marL="0" rtl="0" algn="l">
              <a:spcBef>
                <a:spcPts val="0"/>
              </a:spcBef>
              <a:spcAft>
                <a:spcPts val="0"/>
              </a:spcAft>
              <a:buClr>
                <a:schemeClr val="dk1"/>
              </a:buClr>
              <a:buSzPts val="1100"/>
              <a:buFont typeface="Arial"/>
              <a:buNone/>
            </a:pPr>
            <a:r>
              <a:rPr lang="zh-TW"/>
              <a:t>deepseek-ai/deepseek-r1-distill-llama-8b</a:t>
            </a:r>
            <a:endParaRPr/>
          </a:p>
          <a:p>
            <a:pPr indent="0" lvl="0" marL="0" rtl="0" algn="l">
              <a:spcBef>
                <a:spcPts val="0"/>
              </a:spcBef>
              <a:spcAft>
                <a:spcPts val="0"/>
              </a:spcAft>
              <a:buClr>
                <a:schemeClr val="dk1"/>
              </a:buClr>
              <a:buSzPts val="1100"/>
              <a:buFont typeface="Arial"/>
              <a:buNone/>
            </a:pPr>
            <a:r>
              <a:rPr lang="zh-TW"/>
              <a:t>deepseek-ai/deepseek-r1-distill-qwen-14b</a:t>
            </a:r>
            <a:endParaRPr/>
          </a:p>
          <a:p>
            <a:pPr indent="0" lvl="0" marL="0" rtl="0" algn="l">
              <a:spcBef>
                <a:spcPts val="0"/>
              </a:spcBef>
              <a:spcAft>
                <a:spcPts val="0"/>
              </a:spcAft>
              <a:buClr>
                <a:schemeClr val="dk1"/>
              </a:buClr>
              <a:buSzPts val="1100"/>
              <a:buFont typeface="Arial"/>
              <a:buNone/>
            </a:pPr>
            <a:r>
              <a:rPr lang="zh-TW"/>
              <a:t>deepseek-ai/deepseek-r1-distill-qwen-32b</a:t>
            </a:r>
            <a:endParaRPr/>
          </a:p>
          <a:p>
            <a:pPr indent="0" lvl="0" marL="0" rtl="0" algn="l">
              <a:spcBef>
                <a:spcPts val="0"/>
              </a:spcBef>
              <a:spcAft>
                <a:spcPts val="0"/>
              </a:spcAft>
              <a:buClr>
                <a:schemeClr val="dk1"/>
              </a:buClr>
              <a:buSzPts val="1100"/>
              <a:buFont typeface="Arial"/>
              <a:buNone/>
            </a:pPr>
            <a:r>
              <a:rPr lang="zh-TW"/>
              <a:t>deepseek-ai/deepseek-r1-distill-qwen-7b </a:t>
            </a:r>
            <a:endParaRPr/>
          </a:p>
          <a:p>
            <a:pPr indent="0" lvl="0" marL="0" rtl="0" algn="l">
              <a:spcBef>
                <a:spcPts val="0"/>
              </a:spcBef>
              <a:spcAft>
                <a:spcPts val="0"/>
              </a:spcAft>
              <a:buClr>
                <a:schemeClr val="dk1"/>
              </a:buClr>
              <a:buSzPts val="1100"/>
              <a:buFont typeface="Arial"/>
              <a:buNone/>
            </a:pPr>
            <a:r>
              <a:rPr lang="zh-TW"/>
              <a:t>google/codegemma-1.1-7b</a:t>
            </a:r>
            <a:endParaRPr/>
          </a:p>
          <a:p>
            <a:pPr indent="0" lvl="0" marL="0" rtl="0" algn="l">
              <a:spcBef>
                <a:spcPts val="0"/>
              </a:spcBef>
              <a:spcAft>
                <a:spcPts val="0"/>
              </a:spcAft>
              <a:buClr>
                <a:schemeClr val="dk1"/>
              </a:buClr>
              <a:buSzPts val="1100"/>
              <a:buFont typeface="Arial"/>
              <a:buNone/>
            </a:pPr>
            <a:r>
              <a:rPr lang="zh-TW"/>
              <a:t>google/codegemma-7b</a:t>
            </a:r>
            <a:endParaRPr/>
          </a:p>
          <a:p>
            <a:pPr indent="0" lvl="0" marL="0" rtl="0" algn="l">
              <a:spcBef>
                <a:spcPts val="0"/>
              </a:spcBef>
              <a:spcAft>
                <a:spcPts val="0"/>
              </a:spcAft>
              <a:buClr>
                <a:schemeClr val="dk1"/>
              </a:buClr>
              <a:buSzPts val="1100"/>
              <a:buFont typeface="Arial"/>
              <a:buNone/>
            </a:pPr>
            <a:r>
              <a:rPr lang="zh-TW"/>
              <a:t>google/deplot</a:t>
            </a:r>
            <a:endParaRPr/>
          </a:p>
          <a:p>
            <a:pPr indent="0" lvl="0" marL="0" rtl="0" algn="l">
              <a:spcBef>
                <a:spcPts val="0"/>
              </a:spcBef>
              <a:spcAft>
                <a:spcPts val="0"/>
              </a:spcAft>
              <a:buClr>
                <a:schemeClr val="dk1"/>
              </a:buClr>
              <a:buSzPts val="1100"/>
              <a:buFont typeface="Arial"/>
              <a:buNone/>
            </a:pPr>
            <a:r>
              <a:rPr lang="zh-TW"/>
              <a:t>google/gemma-2-27b-it</a:t>
            </a:r>
            <a:endParaRPr/>
          </a:p>
          <a:p>
            <a:pPr indent="0" lvl="0" marL="0" rtl="0" algn="l">
              <a:spcBef>
                <a:spcPts val="0"/>
              </a:spcBef>
              <a:spcAft>
                <a:spcPts val="0"/>
              </a:spcAft>
              <a:buClr>
                <a:schemeClr val="dk1"/>
              </a:buClr>
              <a:buSzPts val="1100"/>
              <a:buFont typeface="Arial"/>
              <a:buNone/>
            </a:pPr>
            <a:r>
              <a:rPr lang="zh-TW"/>
              <a:t>google/gemma-2-2b-it</a:t>
            </a:r>
            <a:endParaRPr/>
          </a:p>
          <a:p>
            <a:pPr indent="0" lvl="0" marL="0" rtl="0" algn="l">
              <a:spcBef>
                <a:spcPts val="0"/>
              </a:spcBef>
              <a:spcAft>
                <a:spcPts val="0"/>
              </a:spcAft>
              <a:buClr>
                <a:schemeClr val="dk1"/>
              </a:buClr>
              <a:buSzPts val="1100"/>
              <a:buFont typeface="Arial"/>
              <a:buNone/>
            </a:pPr>
            <a:r>
              <a:rPr lang="zh-TW"/>
              <a:t>google/gemma-2-9b-it</a:t>
            </a:r>
            <a:endParaRPr/>
          </a:p>
          <a:p>
            <a:pPr indent="0" lvl="0" marL="0" rtl="0" algn="l">
              <a:spcBef>
                <a:spcPts val="0"/>
              </a:spcBef>
              <a:spcAft>
                <a:spcPts val="0"/>
              </a:spcAft>
              <a:buClr>
                <a:schemeClr val="dk1"/>
              </a:buClr>
              <a:buSzPts val="1100"/>
              <a:buFont typeface="Arial"/>
              <a:buNone/>
            </a:pPr>
            <a:r>
              <a:rPr lang="zh-TW"/>
              <a:t>google/gemma-2b</a:t>
            </a:r>
            <a:endParaRPr/>
          </a:p>
          <a:p>
            <a:pPr indent="0" lvl="0" marL="0" rtl="0" algn="l">
              <a:spcBef>
                <a:spcPts val="0"/>
              </a:spcBef>
              <a:spcAft>
                <a:spcPts val="0"/>
              </a:spcAft>
              <a:buClr>
                <a:schemeClr val="dk1"/>
              </a:buClr>
              <a:buSzPts val="1100"/>
              <a:buFont typeface="Arial"/>
              <a:buNone/>
            </a:pPr>
            <a:r>
              <a:rPr lang="zh-TW"/>
              <a:t>google/gemma-3-12b-it</a:t>
            </a:r>
            <a:endParaRPr/>
          </a:p>
          <a:p>
            <a:pPr indent="0" lvl="0" marL="0" rtl="0" algn="l">
              <a:spcBef>
                <a:spcPts val="0"/>
              </a:spcBef>
              <a:spcAft>
                <a:spcPts val="0"/>
              </a:spcAft>
              <a:buClr>
                <a:schemeClr val="dk1"/>
              </a:buClr>
              <a:buSzPts val="1100"/>
              <a:buFont typeface="Arial"/>
              <a:buNone/>
            </a:pPr>
            <a:r>
              <a:rPr lang="zh-TW"/>
              <a:t>google/gemma-3-1b-it</a:t>
            </a:r>
            <a:endParaRPr/>
          </a:p>
          <a:p>
            <a:pPr indent="0" lvl="0" marL="0" rtl="0" algn="l">
              <a:spcBef>
                <a:spcPts val="0"/>
              </a:spcBef>
              <a:spcAft>
                <a:spcPts val="0"/>
              </a:spcAft>
              <a:buClr>
                <a:schemeClr val="dk1"/>
              </a:buClr>
              <a:buSzPts val="1100"/>
              <a:buFont typeface="Arial"/>
              <a:buNone/>
            </a:pPr>
            <a:r>
              <a:rPr lang="zh-TW"/>
              <a:t>google/gemma-3-27b-it</a:t>
            </a:r>
            <a:endParaRPr/>
          </a:p>
          <a:p>
            <a:pPr indent="0" lvl="0" marL="0" rtl="0" algn="l">
              <a:spcBef>
                <a:spcPts val="0"/>
              </a:spcBef>
              <a:spcAft>
                <a:spcPts val="0"/>
              </a:spcAft>
              <a:buClr>
                <a:schemeClr val="dk1"/>
              </a:buClr>
              <a:buSzPts val="1100"/>
              <a:buFont typeface="Arial"/>
              <a:buNone/>
            </a:pPr>
            <a:r>
              <a:rPr lang="zh-TW"/>
              <a:t>google/gemma-3-4b-it</a:t>
            </a:r>
            <a:endParaRPr/>
          </a:p>
          <a:p>
            <a:pPr indent="0" lvl="0" marL="0" rtl="0" algn="l">
              <a:spcBef>
                <a:spcPts val="0"/>
              </a:spcBef>
              <a:spcAft>
                <a:spcPts val="0"/>
              </a:spcAft>
              <a:buClr>
                <a:schemeClr val="dk1"/>
              </a:buClr>
              <a:buSzPts val="1100"/>
              <a:buFont typeface="Arial"/>
              <a:buNone/>
            </a:pPr>
            <a:r>
              <a:rPr lang="zh-TW"/>
              <a:t>google/gemma-7b</a:t>
            </a:r>
            <a:endParaRPr/>
          </a:p>
          <a:p>
            <a:pPr indent="0" lvl="0" marL="0" rtl="0" algn="l">
              <a:spcBef>
                <a:spcPts val="0"/>
              </a:spcBef>
              <a:spcAft>
                <a:spcPts val="0"/>
              </a:spcAft>
              <a:buClr>
                <a:schemeClr val="dk1"/>
              </a:buClr>
              <a:buSzPts val="1100"/>
              <a:buFont typeface="Arial"/>
              <a:buNone/>
            </a:pPr>
            <a:r>
              <a:rPr lang="zh-TW"/>
              <a:t>google/paligemma</a:t>
            </a:r>
            <a:endParaRPr/>
          </a:p>
          <a:p>
            <a:pPr indent="0" lvl="0" marL="0" rtl="0" algn="l">
              <a:spcBef>
                <a:spcPts val="0"/>
              </a:spcBef>
              <a:spcAft>
                <a:spcPts val="0"/>
              </a:spcAft>
              <a:buClr>
                <a:schemeClr val="dk1"/>
              </a:buClr>
              <a:buSzPts val="1100"/>
              <a:buFont typeface="Arial"/>
              <a:buNone/>
            </a:pPr>
            <a:r>
              <a:rPr lang="zh-TW"/>
              <a:t>google/recurrentgemma-2b</a:t>
            </a:r>
            <a:endParaRPr/>
          </a:p>
          <a:p>
            <a:pPr indent="0" lvl="0" marL="0" rtl="0" algn="l">
              <a:spcBef>
                <a:spcPts val="0"/>
              </a:spcBef>
              <a:spcAft>
                <a:spcPts val="0"/>
              </a:spcAft>
              <a:buClr>
                <a:schemeClr val="dk1"/>
              </a:buClr>
              <a:buSzPts val="1100"/>
              <a:buFont typeface="Arial"/>
              <a:buNone/>
            </a:pPr>
            <a:r>
              <a:rPr lang="zh-TW"/>
              <a:t>google/shieldgemma-9b</a:t>
            </a:r>
            <a:endParaRPr/>
          </a:p>
          <a:p>
            <a:pPr indent="0" lvl="0" marL="0" rtl="0" algn="l">
              <a:spcBef>
                <a:spcPts val="0"/>
              </a:spcBef>
              <a:spcAft>
                <a:spcPts val="0"/>
              </a:spcAft>
              <a:buClr>
                <a:schemeClr val="dk1"/>
              </a:buClr>
              <a:buSzPts val="1100"/>
              <a:buFont typeface="Arial"/>
              <a:buNone/>
            </a:pPr>
            <a:r>
              <a:rPr lang="zh-TW"/>
              <a:t>gotocompany/gemma-2-9b-cpt-sahabatai-instruct</a:t>
            </a:r>
            <a:endParaRPr/>
          </a:p>
          <a:p>
            <a:pPr indent="0" lvl="0" marL="0" rtl="0" algn="l">
              <a:spcBef>
                <a:spcPts val="0"/>
              </a:spcBef>
              <a:spcAft>
                <a:spcPts val="0"/>
              </a:spcAft>
              <a:buClr>
                <a:schemeClr val="dk1"/>
              </a:buClr>
              <a:buSzPts val="1100"/>
              <a:buFont typeface="Arial"/>
              <a:buNone/>
            </a:pPr>
            <a:r>
              <a:rPr lang="zh-TW"/>
              <a:t>ibm/granite-3.0-3b-a800m-instruct</a:t>
            </a:r>
            <a:endParaRPr/>
          </a:p>
          <a:p>
            <a:pPr indent="0" lvl="0" marL="0" rtl="0" algn="l">
              <a:spcBef>
                <a:spcPts val="0"/>
              </a:spcBef>
              <a:spcAft>
                <a:spcPts val="0"/>
              </a:spcAft>
              <a:buClr>
                <a:schemeClr val="dk1"/>
              </a:buClr>
              <a:buSzPts val="1100"/>
              <a:buFont typeface="Arial"/>
              <a:buNone/>
            </a:pPr>
            <a:r>
              <a:rPr lang="zh-TW"/>
              <a:t>ibm/granite-3.0-8b-instruct</a:t>
            </a:r>
            <a:endParaRPr/>
          </a:p>
          <a:p>
            <a:pPr indent="0" lvl="0" marL="0" rtl="0" algn="l">
              <a:spcBef>
                <a:spcPts val="0"/>
              </a:spcBef>
              <a:spcAft>
                <a:spcPts val="0"/>
              </a:spcAft>
              <a:buClr>
                <a:schemeClr val="dk1"/>
              </a:buClr>
              <a:buSzPts val="1100"/>
              <a:buFont typeface="Arial"/>
              <a:buNone/>
            </a:pPr>
            <a:r>
              <a:rPr lang="zh-TW"/>
              <a:t>ibm/granite-3.3-8b-instruct</a:t>
            </a:r>
            <a:endParaRPr/>
          </a:p>
          <a:p>
            <a:pPr indent="0" lvl="0" marL="0" rtl="0" algn="l">
              <a:spcBef>
                <a:spcPts val="0"/>
              </a:spcBef>
              <a:spcAft>
                <a:spcPts val="0"/>
              </a:spcAft>
              <a:buClr>
                <a:schemeClr val="dk1"/>
              </a:buClr>
              <a:buSzPts val="1100"/>
              <a:buFont typeface="Arial"/>
              <a:buNone/>
            </a:pPr>
            <a:r>
              <a:rPr lang="zh-TW"/>
              <a:t>ibm/granite-34b-code-instruct</a:t>
            </a:r>
            <a:endParaRPr/>
          </a:p>
          <a:p>
            <a:pPr indent="0" lvl="0" marL="0" rtl="0" algn="l">
              <a:spcBef>
                <a:spcPts val="0"/>
              </a:spcBef>
              <a:spcAft>
                <a:spcPts val="0"/>
              </a:spcAft>
              <a:buClr>
                <a:schemeClr val="dk1"/>
              </a:buClr>
              <a:buSzPts val="1100"/>
              <a:buFont typeface="Arial"/>
              <a:buNone/>
            </a:pPr>
            <a:r>
              <a:rPr lang="zh-TW"/>
              <a:t>ibm/granite-8b-code-instruct</a:t>
            </a:r>
            <a:endParaRPr/>
          </a:p>
          <a:p>
            <a:pPr indent="0" lvl="0" marL="0" rtl="0" algn="l">
              <a:spcBef>
                <a:spcPts val="0"/>
              </a:spcBef>
              <a:spcAft>
                <a:spcPts val="0"/>
              </a:spcAft>
              <a:buClr>
                <a:schemeClr val="dk1"/>
              </a:buClr>
              <a:buSzPts val="1100"/>
              <a:buFont typeface="Arial"/>
              <a:buNone/>
            </a:pPr>
            <a:r>
              <a:rPr lang="zh-TW"/>
              <a:t>ibm/granite-guardian-3.0-8b</a:t>
            </a:r>
            <a:endParaRPr/>
          </a:p>
          <a:p>
            <a:pPr indent="0" lvl="0" marL="0" rtl="0" algn="l">
              <a:spcBef>
                <a:spcPts val="0"/>
              </a:spcBef>
              <a:spcAft>
                <a:spcPts val="0"/>
              </a:spcAft>
              <a:buClr>
                <a:schemeClr val="dk1"/>
              </a:buClr>
              <a:buSzPts val="1100"/>
              <a:buFont typeface="Arial"/>
              <a:buNone/>
            </a:pPr>
            <a:r>
              <a:rPr lang="zh-TW"/>
              <a:t>igenius/colosseum_355b_instruct_16k</a:t>
            </a:r>
            <a:endParaRPr/>
          </a:p>
          <a:p>
            <a:pPr indent="0" lvl="0" marL="0" rtl="0" algn="l">
              <a:spcBef>
                <a:spcPts val="0"/>
              </a:spcBef>
              <a:spcAft>
                <a:spcPts val="0"/>
              </a:spcAft>
              <a:buClr>
                <a:schemeClr val="dk1"/>
              </a:buClr>
              <a:buSzPts val="1100"/>
              <a:buFont typeface="Arial"/>
              <a:buNone/>
            </a:pPr>
            <a:r>
              <a:rPr lang="zh-TW"/>
              <a:t>igenius/italia_10b_instruct_16k</a:t>
            </a:r>
            <a:endParaRPr/>
          </a:p>
          <a:p>
            <a:pPr indent="0" lvl="0" marL="0" rtl="0" algn="l">
              <a:spcBef>
                <a:spcPts val="0"/>
              </a:spcBef>
              <a:spcAft>
                <a:spcPts val="0"/>
              </a:spcAft>
              <a:buClr>
                <a:schemeClr val="dk1"/>
              </a:buClr>
              <a:buSzPts val="1100"/>
              <a:buFont typeface="Arial"/>
              <a:buNone/>
            </a:pPr>
            <a:r>
              <a:rPr lang="zh-TW"/>
              <a:t>institute-of-science-tokyo/llama-3.1-swallow-70b-instruct-v0.1</a:t>
            </a:r>
            <a:endParaRPr/>
          </a:p>
          <a:p>
            <a:pPr indent="0" lvl="0" marL="0" rtl="0" algn="l">
              <a:spcBef>
                <a:spcPts val="0"/>
              </a:spcBef>
              <a:spcAft>
                <a:spcPts val="0"/>
              </a:spcAft>
              <a:buClr>
                <a:schemeClr val="dk1"/>
              </a:buClr>
              <a:buSzPts val="1100"/>
              <a:buFont typeface="Arial"/>
              <a:buNone/>
            </a:pPr>
            <a:r>
              <a:rPr lang="zh-TW"/>
              <a:t>institute-of-science-tokyo/llama-3.1-swallow-8b-instruct-v0.1</a:t>
            </a:r>
            <a:endParaRPr/>
          </a:p>
          <a:p>
            <a:pPr indent="0" lvl="0" marL="0" rtl="0" algn="l">
              <a:spcBef>
                <a:spcPts val="0"/>
              </a:spcBef>
              <a:spcAft>
                <a:spcPts val="0"/>
              </a:spcAft>
              <a:buClr>
                <a:schemeClr val="dk1"/>
              </a:buClr>
              <a:buSzPts val="1100"/>
              <a:buFont typeface="Arial"/>
              <a:buNone/>
            </a:pPr>
            <a:r>
              <a:rPr lang="zh-TW"/>
              <a:t>marin/marin-8b-instruct</a:t>
            </a:r>
            <a:endParaRPr/>
          </a:p>
          <a:p>
            <a:pPr indent="0" lvl="0" marL="0" rtl="0" algn="l">
              <a:spcBef>
                <a:spcPts val="0"/>
              </a:spcBef>
              <a:spcAft>
                <a:spcPts val="0"/>
              </a:spcAft>
              <a:buClr>
                <a:schemeClr val="dk1"/>
              </a:buClr>
              <a:buSzPts val="1100"/>
              <a:buFont typeface="Arial"/>
              <a:buNone/>
            </a:pPr>
            <a:r>
              <a:rPr lang="zh-TW"/>
              <a:t>mediatek/breeze-7b-instruct</a:t>
            </a:r>
            <a:endParaRPr/>
          </a:p>
          <a:p>
            <a:pPr indent="0" lvl="0" marL="0" rtl="0" algn="l">
              <a:spcBef>
                <a:spcPts val="0"/>
              </a:spcBef>
              <a:spcAft>
                <a:spcPts val="0"/>
              </a:spcAft>
              <a:buClr>
                <a:schemeClr val="dk1"/>
              </a:buClr>
              <a:buSzPts val="1100"/>
              <a:buFont typeface="Arial"/>
              <a:buNone/>
            </a:pPr>
            <a:r>
              <a:rPr lang="zh-TW"/>
              <a:t>meta/codellama-70b</a:t>
            </a:r>
            <a:endParaRPr/>
          </a:p>
          <a:p>
            <a:pPr indent="0" lvl="0" marL="0" rtl="0" algn="l">
              <a:spcBef>
                <a:spcPts val="0"/>
              </a:spcBef>
              <a:spcAft>
                <a:spcPts val="0"/>
              </a:spcAft>
              <a:buClr>
                <a:schemeClr val="dk1"/>
              </a:buClr>
              <a:buSzPts val="1100"/>
              <a:buFont typeface="Arial"/>
              <a:buNone/>
            </a:pPr>
            <a:r>
              <a:rPr lang="zh-TW"/>
              <a:t>meta/llama-3.1-405b-instruct</a:t>
            </a:r>
            <a:endParaRPr/>
          </a:p>
          <a:p>
            <a:pPr indent="0" lvl="0" marL="0" rtl="0" algn="l">
              <a:spcBef>
                <a:spcPts val="0"/>
              </a:spcBef>
              <a:spcAft>
                <a:spcPts val="0"/>
              </a:spcAft>
              <a:buClr>
                <a:schemeClr val="dk1"/>
              </a:buClr>
              <a:buSzPts val="1100"/>
              <a:buFont typeface="Arial"/>
              <a:buNone/>
            </a:pPr>
            <a:r>
              <a:rPr lang="zh-TW"/>
              <a:t>meta/llama-3.1-70b-instruct</a:t>
            </a:r>
            <a:endParaRPr/>
          </a:p>
          <a:p>
            <a:pPr indent="0" lvl="0" marL="0" rtl="0" algn="l">
              <a:spcBef>
                <a:spcPts val="0"/>
              </a:spcBef>
              <a:spcAft>
                <a:spcPts val="0"/>
              </a:spcAft>
              <a:buClr>
                <a:schemeClr val="dk1"/>
              </a:buClr>
              <a:buSzPts val="1100"/>
              <a:buFont typeface="Arial"/>
              <a:buNone/>
            </a:pPr>
            <a:r>
              <a:rPr lang="zh-TW"/>
              <a:t>meta/llama-3.1-8b-instruct</a:t>
            </a:r>
            <a:endParaRPr/>
          </a:p>
          <a:p>
            <a:pPr indent="0" lvl="0" marL="0" rtl="0" algn="l">
              <a:spcBef>
                <a:spcPts val="0"/>
              </a:spcBef>
              <a:spcAft>
                <a:spcPts val="0"/>
              </a:spcAft>
              <a:buClr>
                <a:schemeClr val="dk1"/>
              </a:buClr>
              <a:buSzPts val="1100"/>
              <a:buFont typeface="Arial"/>
              <a:buNone/>
            </a:pPr>
            <a:r>
              <a:rPr lang="zh-TW"/>
              <a:t>meta/llama-3.2-11b-vision-instruct</a:t>
            </a:r>
            <a:endParaRPr/>
          </a:p>
          <a:p>
            <a:pPr indent="0" lvl="0" marL="0" rtl="0" algn="l">
              <a:spcBef>
                <a:spcPts val="0"/>
              </a:spcBef>
              <a:spcAft>
                <a:spcPts val="0"/>
              </a:spcAft>
              <a:buClr>
                <a:schemeClr val="dk1"/>
              </a:buClr>
              <a:buSzPts val="1100"/>
              <a:buFont typeface="Arial"/>
              <a:buNone/>
            </a:pPr>
            <a:r>
              <a:rPr lang="zh-TW"/>
              <a:t>meta/llama-3.2-1b-instruct</a:t>
            </a:r>
            <a:endParaRPr/>
          </a:p>
          <a:p>
            <a:pPr indent="0" lvl="0" marL="0" rtl="0" algn="l">
              <a:spcBef>
                <a:spcPts val="0"/>
              </a:spcBef>
              <a:spcAft>
                <a:spcPts val="0"/>
              </a:spcAft>
              <a:buClr>
                <a:schemeClr val="dk1"/>
              </a:buClr>
              <a:buSzPts val="1100"/>
              <a:buFont typeface="Arial"/>
              <a:buNone/>
            </a:pPr>
            <a:r>
              <a:rPr lang="zh-TW"/>
              <a:t>meta/llama-3.2-3b-instruct</a:t>
            </a:r>
            <a:endParaRPr/>
          </a:p>
          <a:p>
            <a:pPr indent="0" lvl="0" marL="0" rtl="0" algn="l">
              <a:spcBef>
                <a:spcPts val="0"/>
              </a:spcBef>
              <a:spcAft>
                <a:spcPts val="0"/>
              </a:spcAft>
              <a:buClr>
                <a:schemeClr val="dk1"/>
              </a:buClr>
              <a:buSzPts val="1100"/>
              <a:buFont typeface="Arial"/>
              <a:buNone/>
            </a:pPr>
            <a:r>
              <a:rPr lang="zh-TW"/>
              <a:t>meta/llama-3.2-90b-vision-instruct</a:t>
            </a:r>
            <a:endParaRPr/>
          </a:p>
          <a:p>
            <a:pPr indent="0" lvl="0" marL="0" rtl="0" algn="l">
              <a:spcBef>
                <a:spcPts val="0"/>
              </a:spcBef>
              <a:spcAft>
                <a:spcPts val="0"/>
              </a:spcAft>
              <a:buClr>
                <a:schemeClr val="dk1"/>
              </a:buClr>
              <a:buSzPts val="1100"/>
              <a:buFont typeface="Arial"/>
              <a:buNone/>
            </a:pPr>
            <a:r>
              <a:rPr lang="zh-TW"/>
              <a:t>meta/llama-3.3-70b-instruct</a:t>
            </a:r>
            <a:endParaRPr/>
          </a:p>
          <a:p>
            <a:pPr indent="0" lvl="0" marL="0" rtl="0" algn="l">
              <a:spcBef>
                <a:spcPts val="0"/>
              </a:spcBef>
              <a:spcAft>
                <a:spcPts val="0"/>
              </a:spcAft>
              <a:buClr>
                <a:schemeClr val="dk1"/>
              </a:buClr>
              <a:buSzPts val="1100"/>
              <a:buFont typeface="Arial"/>
              <a:buNone/>
            </a:pPr>
            <a:r>
              <a:rPr lang="zh-TW"/>
              <a:t>meta/llama-4-maverick-17b-128e-instruct</a:t>
            </a:r>
            <a:endParaRPr/>
          </a:p>
          <a:p>
            <a:pPr indent="0" lvl="0" marL="0" rtl="0" algn="l">
              <a:spcBef>
                <a:spcPts val="0"/>
              </a:spcBef>
              <a:spcAft>
                <a:spcPts val="0"/>
              </a:spcAft>
              <a:buClr>
                <a:schemeClr val="dk1"/>
              </a:buClr>
              <a:buSzPts val="1100"/>
              <a:buFont typeface="Arial"/>
              <a:buNone/>
            </a:pPr>
            <a:r>
              <a:rPr lang="zh-TW"/>
              <a:t>meta/llama-4-scout-17b-16e-instruct</a:t>
            </a:r>
            <a:endParaRPr/>
          </a:p>
          <a:p>
            <a:pPr indent="0" lvl="0" marL="0" rtl="0" algn="l">
              <a:spcBef>
                <a:spcPts val="0"/>
              </a:spcBef>
              <a:spcAft>
                <a:spcPts val="0"/>
              </a:spcAft>
              <a:buClr>
                <a:schemeClr val="dk1"/>
              </a:buClr>
              <a:buSzPts val="1100"/>
              <a:buFont typeface="Arial"/>
              <a:buNone/>
            </a:pPr>
            <a:r>
              <a:rPr lang="zh-TW"/>
              <a:t>meta/llama2-70b</a:t>
            </a:r>
            <a:endParaRPr/>
          </a:p>
          <a:p>
            <a:pPr indent="0" lvl="0" marL="0" rtl="0" algn="l">
              <a:spcBef>
                <a:spcPts val="0"/>
              </a:spcBef>
              <a:spcAft>
                <a:spcPts val="0"/>
              </a:spcAft>
              <a:buClr>
                <a:schemeClr val="dk1"/>
              </a:buClr>
              <a:buSzPts val="1100"/>
              <a:buFont typeface="Arial"/>
              <a:buNone/>
            </a:pPr>
            <a:r>
              <a:rPr lang="zh-TW"/>
              <a:t>meta/llama3-70b-instruct</a:t>
            </a:r>
            <a:endParaRPr/>
          </a:p>
          <a:p>
            <a:pPr indent="0" lvl="0" marL="0" rtl="0" algn="l">
              <a:spcBef>
                <a:spcPts val="0"/>
              </a:spcBef>
              <a:spcAft>
                <a:spcPts val="0"/>
              </a:spcAft>
              <a:buClr>
                <a:schemeClr val="dk1"/>
              </a:buClr>
              <a:buSzPts val="1100"/>
              <a:buFont typeface="Arial"/>
              <a:buNone/>
            </a:pPr>
            <a:r>
              <a:rPr lang="zh-TW"/>
              <a:t>meta/llama3-8b-instruct</a:t>
            </a:r>
            <a:endParaRPr/>
          </a:p>
          <a:p>
            <a:pPr indent="0" lvl="0" marL="0" rtl="0" algn="l">
              <a:spcBef>
                <a:spcPts val="0"/>
              </a:spcBef>
              <a:spcAft>
                <a:spcPts val="0"/>
              </a:spcAft>
              <a:buClr>
                <a:schemeClr val="dk1"/>
              </a:buClr>
              <a:buSzPts val="1100"/>
              <a:buFont typeface="Arial"/>
              <a:buNone/>
            </a:pPr>
            <a:r>
              <a:rPr lang="zh-TW"/>
              <a:t>microsoft/kosmos-2</a:t>
            </a:r>
            <a:endParaRPr/>
          </a:p>
          <a:p>
            <a:pPr indent="0" lvl="0" marL="0" rtl="0" algn="l">
              <a:spcBef>
                <a:spcPts val="0"/>
              </a:spcBef>
              <a:spcAft>
                <a:spcPts val="0"/>
              </a:spcAft>
              <a:buClr>
                <a:schemeClr val="dk1"/>
              </a:buClr>
              <a:buSzPts val="1100"/>
              <a:buFont typeface="Arial"/>
              <a:buNone/>
            </a:pPr>
            <a:r>
              <a:rPr lang="zh-TW"/>
              <a:t>microsoft/phi-3-medium-128k-instruct</a:t>
            </a:r>
            <a:endParaRPr/>
          </a:p>
          <a:p>
            <a:pPr indent="0" lvl="0" marL="0" rtl="0" algn="l">
              <a:spcBef>
                <a:spcPts val="0"/>
              </a:spcBef>
              <a:spcAft>
                <a:spcPts val="0"/>
              </a:spcAft>
              <a:buClr>
                <a:schemeClr val="dk1"/>
              </a:buClr>
              <a:buSzPts val="1100"/>
              <a:buFont typeface="Arial"/>
              <a:buNone/>
            </a:pPr>
            <a:r>
              <a:rPr lang="zh-TW"/>
              <a:t>microsoft/phi-3-medium-4k-instruct</a:t>
            </a:r>
            <a:endParaRPr/>
          </a:p>
          <a:p>
            <a:pPr indent="0" lvl="0" marL="0" rtl="0" algn="l">
              <a:spcBef>
                <a:spcPts val="0"/>
              </a:spcBef>
              <a:spcAft>
                <a:spcPts val="0"/>
              </a:spcAft>
              <a:buClr>
                <a:schemeClr val="dk1"/>
              </a:buClr>
              <a:buSzPts val="1100"/>
              <a:buFont typeface="Arial"/>
              <a:buNone/>
            </a:pPr>
            <a:r>
              <a:rPr lang="zh-TW"/>
              <a:t>microsoft/phi-3-mini-128k-instruct</a:t>
            </a:r>
            <a:endParaRPr/>
          </a:p>
          <a:p>
            <a:pPr indent="0" lvl="0" marL="0" rtl="0" algn="l">
              <a:spcBef>
                <a:spcPts val="0"/>
              </a:spcBef>
              <a:spcAft>
                <a:spcPts val="0"/>
              </a:spcAft>
              <a:buClr>
                <a:schemeClr val="dk1"/>
              </a:buClr>
              <a:buSzPts val="1100"/>
              <a:buFont typeface="Arial"/>
              <a:buNone/>
            </a:pPr>
            <a:r>
              <a:rPr lang="zh-TW"/>
              <a:t>microsoft/phi-3-mini-4k-instruct</a:t>
            </a:r>
            <a:endParaRPr/>
          </a:p>
          <a:p>
            <a:pPr indent="0" lvl="0" marL="0" rtl="0" algn="l">
              <a:spcBef>
                <a:spcPts val="0"/>
              </a:spcBef>
              <a:spcAft>
                <a:spcPts val="0"/>
              </a:spcAft>
              <a:buClr>
                <a:schemeClr val="dk1"/>
              </a:buClr>
              <a:buSzPts val="1100"/>
              <a:buFont typeface="Arial"/>
              <a:buNone/>
            </a:pPr>
            <a:r>
              <a:rPr lang="zh-TW"/>
              <a:t>microsoft/phi-3-small-128k-instruct</a:t>
            </a:r>
            <a:endParaRPr/>
          </a:p>
          <a:p>
            <a:pPr indent="0" lvl="0" marL="0" rtl="0" algn="l">
              <a:spcBef>
                <a:spcPts val="0"/>
              </a:spcBef>
              <a:spcAft>
                <a:spcPts val="0"/>
              </a:spcAft>
              <a:buClr>
                <a:schemeClr val="dk1"/>
              </a:buClr>
              <a:buSzPts val="1100"/>
              <a:buFont typeface="Arial"/>
              <a:buNone/>
            </a:pPr>
            <a:r>
              <a:rPr lang="zh-TW"/>
              <a:t>microsoft/phi-3-small-8k-instruct</a:t>
            </a:r>
            <a:endParaRPr/>
          </a:p>
          <a:p>
            <a:pPr indent="0" lvl="0" marL="0" rtl="0" algn="l">
              <a:spcBef>
                <a:spcPts val="0"/>
              </a:spcBef>
              <a:spcAft>
                <a:spcPts val="0"/>
              </a:spcAft>
              <a:buClr>
                <a:schemeClr val="dk1"/>
              </a:buClr>
              <a:buSzPts val="1100"/>
              <a:buFont typeface="Arial"/>
              <a:buNone/>
            </a:pPr>
            <a:r>
              <a:rPr lang="zh-TW"/>
              <a:t>microsoft/phi-3-vision-128k-instruct</a:t>
            </a:r>
            <a:endParaRPr/>
          </a:p>
          <a:p>
            <a:pPr indent="0" lvl="0" marL="0" rtl="0" algn="l">
              <a:spcBef>
                <a:spcPts val="0"/>
              </a:spcBef>
              <a:spcAft>
                <a:spcPts val="0"/>
              </a:spcAft>
              <a:buClr>
                <a:schemeClr val="dk1"/>
              </a:buClr>
              <a:buSzPts val="1100"/>
              <a:buFont typeface="Arial"/>
              <a:buNone/>
            </a:pPr>
            <a:r>
              <a:rPr lang="zh-TW"/>
              <a:t>microsoft/phi-3.5-mini-instruct</a:t>
            </a:r>
            <a:endParaRPr/>
          </a:p>
          <a:p>
            <a:pPr indent="0" lvl="0" marL="0" rtl="0" algn="l">
              <a:spcBef>
                <a:spcPts val="0"/>
              </a:spcBef>
              <a:spcAft>
                <a:spcPts val="0"/>
              </a:spcAft>
              <a:buClr>
                <a:schemeClr val="dk1"/>
              </a:buClr>
              <a:buSzPts val="1100"/>
              <a:buFont typeface="Arial"/>
              <a:buNone/>
            </a:pPr>
            <a:r>
              <a:rPr lang="zh-TW"/>
              <a:t>microsoft/phi-3.5-moe-instruct</a:t>
            </a:r>
            <a:endParaRPr/>
          </a:p>
          <a:p>
            <a:pPr indent="0" lvl="0" marL="0" rtl="0" algn="l">
              <a:spcBef>
                <a:spcPts val="0"/>
              </a:spcBef>
              <a:spcAft>
                <a:spcPts val="0"/>
              </a:spcAft>
              <a:buClr>
                <a:schemeClr val="dk1"/>
              </a:buClr>
              <a:buSzPts val="1100"/>
              <a:buFont typeface="Arial"/>
              <a:buNone/>
            </a:pPr>
            <a:r>
              <a:rPr lang="zh-TW"/>
              <a:t>microsoft/phi-3.5-vision-instruct</a:t>
            </a:r>
            <a:endParaRPr/>
          </a:p>
          <a:p>
            <a:pPr indent="0" lvl="0" marL="0" rtl="0" algn="l">
              <a:spcBef>
                <a:spcPts val="0"/>
              </a:spcBef>
              <a:spcAft>
                <a:spcPts val="0"/>
              </a:spcAft>
              <a:buClr>
                <a:schemeClr val="dk1"/>
              </a:buClr>
              <a:buSzPts val="1100"/>
              <a:buFont typeface="Arial"/>
              <a:buNone/>
            </a:pPr>
            <a:r>
              <a:rPr lang="zh-TW"/>
              <a:t>microsoft/phi-4-mini-instruct</a:t>
            </a:r>
            <a:endParaRPr/>
          </a:p>
          <a:p>
            <a:pPr indent="0" lvl="0" marL="0" rtl="0" algn="l">
              <a:spcBef>
                <a:spcPts val="0"/>
              </a:spcBef>
              <a:spcAft>
                <a:spcPts val="0"/>
              </a:spcAft>
              <a:buClr>
                <a:schemeClr val="dk1"/>
              </a:buClr>
              <a:buSzPts val="1100"/>
              <a:buFont typeface="Arial"/>
              <a:buNone/>
            </a:pPr>
            <a:r>
              <a:rPr lang="zh-TW"/>
              <a:t>microsoft/phi-4-multimodal-instruct</a:t>
            </a:r>
            <a:endParaRPr/>
          </a:p>
          <a:p>
            <a:pPr indent="0" lvl="0" marL="0" rtl="0" algn="l">
              <a:spcBef>
                <a:spcPts val="0"/>
              </a:spcBef>
              <a:spcAft>
                <a:spcPts val="0"/>
              </a:spcAft>
              <a:buClr>
                <a:schemeClr val="dk1"/>
              </a:buClr>
              <a:buSzPts val="1100"/>
              <a:buFont typeface="Arial"/>
              <a:buNone/>
            </a:pPr>
            <a:r>
              <a:rPr lang="zh-TW"/>
              <a:t>mistralai/codestral-22b-instruct-v0.1</a:t>
            </a:r>
            <a:endParaRPr/>
          </a:p>
          <a:p>
            <a:pPr indent="0" lvl="0" marL="0" rtl="0" algn="l">
              <a:spcBef>
                <a:spcPts val="0"/>
              </a:spcBef>
              <a:spcAft>
                <a:spcPts val="0"/>
              </a:spcAft>
              <a:buClr>
                <a:schemeClr val="dk1"/>
              </a:buClr>
              <a:buSzPts val="1100"/>
              <a:buFont typeface="Arial"/>
              <a:buNone/>
            </a:pPr>
            <a:r>
              <a:rPr lang="zh-TW"/>
              <a:t>mistralai/mamba-codestral-7b-v0.1</a:t>
            </a:r>
            <a:endParaRPr/>
          </a:p>
          <a:p>
            <a:pPr indent="0" lvl="0" marL="0" rtl="0" algn="l">
              <a:spcBef>
                <a:spcPts val="0"/>
              </a:spcBef>
              <a:spcAft>
                <a:spcPts val="0"/>
              </a:spcAft>
              <a:buClr>
                <a:schemeClr val="dk1"/>
              </a:buClr>
              <a:buSzPts val="1100"/>
              <a:buFont typeface="Arial"/>
              <a:buNone/>
            </a:pPr>
            <a:r>
              <a:rPr lang="zh-TW"/>
              <a:t>mistralai/mathstral-7b-v0.1</a:t>
            </a:r>
            <a:endParaRPr/>
          </a:p>
          <a:p>
            <a:pPr indent="0" lvl="0" marL="0" rtl="0" algn="l">
              <a:spcBef>
                <a:spcPts val="0"/>
              </a:spcBef>
              <a:spcAft>
                <a:spcPts val="0"/>
              </a:spcAft>
              <a:buClr>
                <a:schemeClr val="dk1"/>
              </a:buClr>
              <a:buSzPts val="1100"/>
              <a:buFont typeface="Arial"/>
              <a:buNone/>
            </a:pPr>
            <a:r>
              <a:rPr lang="zh-TW"/>
              <a:t>mistralai/mistral-7b-instruct-v0.2</a:t>
            </a:r>
            <a:endParaRPr/>
          </a:p>
          <a:p>
            <a:pPr indent="0" lvl="0" marL="0" rtl="0" algn="l">
              <a:spcBef>
                <a:spcPts val="0"/>
              </a:spcBef>
              <a:spcAft>
                <a:spcPts val="0"/>
              </a:spcAft>
              <a:buClr>
                <a:schemeClr val="dk1"/>
              </a:buClr>
              <a:buSzPts val="1100"/>
              <a:buFont typeface="Arial"/>
              <a:buNone/>
            </a:pPr>
            <a:r>
              <a:rPr lang="zh-TW"/>
              <a:t>mistralai/mistral-7b-instruct-v0.3</a:t>
            </a:r>
            <a:endParaRPr/>
          </a:p>
          <a:p>
            <a:pPr indent="0" lvl="0" marL="0" rtl="0" algn="l">
              <a:spcBef>
                <a:spcPts val="0"/>
              </a:spcBef>
              <a:spcAft>
                <a:spcPts val="0"/>
              </a:spcAft>
              <a:buClr>
                <a:schemeClr val="dk1"/>
              </a:buClr>
              <a:buSzPts val="1100"/>
              <a:buFont typeface="Arial"/>
              <a:buNone/>
            </a:pPr>
            <a:r>
              <a:rPr lang="zh-TW"/>
              <a:t>mistralai/mistral-large</a:t>
            </a:r>
            <a:endParaRPr/>
          </a:p>
          <a:p>
            <a:pPr indent="0" lvl="0" marL="0" rtl="0" algn="l">
              <a:spcBef>
                <a:spcPts val="0"/>
              </a:spcBef>
              <a:spcAft>
                <a:spcPts val="0"/>
              </a:spcAft>
              <a:buClr>
                <a:schemeClr val="dk1"/>
              </a:buClr>
              <a:buSzPts val="1100"/>
              <a:buFont typeface="Arial"/>
              <a:buNone/>
            </a:pPr>
            <a:r>
              <a:rPr lang="zh-TW"/>
              <a:t>mistralai/mistral-large-2-instruct</a:t>
            </a:r>
            <a:endParaRPr/>
          </a:p>
          <a:p>
            <a:pPr indent="0" lvl="0" marL="0" rtl="0" algn="l">
              <a:spcBef>
                <a:spcPts val="0"/>
              </a:spcBef>
              <a:spcAft>
                <a:spcPts val="0"/>
              </a:spcAft>
              <a:buClr>
                <a:schemeClr val="dk1"/>
              </a:buClr>
              <a:buSzPts val="1100"/>
              <a:buFont typeface="Arial"/>
              <a:buNone/>
            </a:pPr>
            <a:r>
              <a:rPr lang="zh-TW"/>
              <a:t>mistralai/mistral-medium-3-instruct</a:t>
            </a:r>
            <a:endParaRPr/>
          </a:p>
          <a:p>
            <a:pPr indent="0" lvl="0" marL="0" rtl="0" algn="l">
              <a:spcBef>
                <a:spcPts val="0"/>
              </a:spcBef>
              <a:spcAft>
                <a:spcPts val="0"/>
              </a:spcAft>
              <a:buClr>
                <a:schemeClr val="dk1"/>
              </a:buClr>
              <a:buSzPts val="1100"/>
              <a:buFont typeface="Arial"/>
              <a:buNone/>
            </a:pPr>
            <a:r>
              <a:rPr lang="zh-TW"/>
              <a:t>mistralai/mistral-small-24b-instruct</a:t>
            </a:r>
            <a:endParaRPr/>
          </a:p>
          <a:p>
            <a:pPr indent="0" lvl="0" marL="0" rtl="0" algn="l">
              <a:spcBef>
                <a:spcPts val="0"/>
              </a:spcBef>
              <a:spcAft>
                <a:spcPts val="0"/>
              </a:spcAft>
              <a:buClr>
                <a:schemeClr val="dk1"/>
              </a:buClr>
              <a:buSzPts val="1100"/>
              <a:buFont typeface="Arial"/>
              <a:buNone/>
            </a:pPr>
            <a:r>
              <a:rPr lang="zh-TW"/>
              <a:t>mistralai/mistral-small-3.1-24b-instruct-2503</a:t>
            </a:r>
            <a:endParaRPr/>
          </a:p>
          <a:p>
            <a:pPr indent="0" lvl="0" marL="0" rtl="0" algn="l">
              <a:spcBef>
                <a:spcPts val="0"/>
              </a:spcBef>
              <a:spcAft>
                <a:spcPts val="0"/>
              </a:spcAft>
              <a:buClr>
                <a:schemeClr val="dk1"/>
              </a:buClr>
              <a:buSzPts val="1100"/>
              <a:buFont typeface="Arial"/>
              <a:buNone/>
            </a:pPr>
            <a:r>
              <a:rPr lang="zh-TW"/>
              <a:t>mistralai/mixtral-8x22b-instruct-v0.1</a:t>
            </a:r>
            <a:endParaRPr/>
          </a:p>
          <a:p>
            <a:pPr indent="0" lvl="0" marL="0" rtl="0" algn="l">
              <a:spcBef>
                <a:spcPts val="0"/>
              </a:spcBef>
              <a:spcAft>
                <a:spcPts val="0"/>
              </a:spcAft>
              <a:buClr>
                <a:schemeClr val="dk1"/>
              </a:buClr>
              <a:buSzPts val="1100"/>
              <a:buFont typeface="Arial"/>
              <a:buNone/>
            </a:pPr>
            <a:r>
              <a:rPr lang="zh-TW"/>
              <a:t>mistralai/mixtral-8x22b-v0.1</a:t>
            </a:r>
            <a:endParaRPr/>
          </a:p>
          <a:p>
            <a:pPr indent="0" lvl="0" marL="0" rtl="0" algn="l">
              <a:spcBef>
                <a:spcPts val="0"/>
              </a:spcBef>
              <a:spcAft>
                <a:spcPts val="0"/>
              </a:spcAft>
              <a:buClr>
                <a:schemeClr val="dk1"/>
              </a:buClr>
              <a:buSzPts val="1100"/>
              <a:buFont typeface="Arial"/>
              <a:buNone/>
            </a:pPr>
            <a:r>
              <a:rPr lang="zh-TW"/>
              <a:t>mistralai/mixtral-8x7b-instruct-v0.1</a:t>
            </a:r>
            <a:endParaRPr/>
          </a:p>
          <a:p>
            <a:pPr indent="0" lvl="0" marL="0" rtl="0" algn="l">
              <a:spcBef>
                <a:spcPts val="0"/>
              </a:spcBef>
              <a:spcAft>
                <a:spcPts val="0"/>
              </a:spcAft>
              <a:buClr>
                <a:schemeClr val="dk1"/>
              </a:buClr>
              <a:buSzPts val="1100"/>
              <a:buFont typeface="Arial"/>
              <a:buNone/>
            </a:pPr>
            <a:r>
              <a:rPr lang="zh-TW"/>
              <a:t>nv-mistralai/mistral-nemo-12b-instruct</a:t>
            </a:r>
            <a:endParaRPr/>
          </a:p>
          <a:p>
            <a:pPr indent="0" lvl="0" marL="0" rtl="0" algn="l">
              <a:spcBef>
                <a:spcPts val="0"/>
              </a:spcBef>
              <a:spcAft>
                <a:spcPts val="0"/>
              </a:spcAft>
              <a:buClr>
                <a:schemeClr val="dk1"/>
              </a:buClr>
              <a:buSzPts val="1100"/>
              <a:buFont typeface="Arial"/>
              <a:buNone/>
            </a:pPr>
            <a:r>
              <a:rPr lang="zh-TW"/>
              <a:t>nvidia/embed-qa-4</a:t>
            </a:r>
            <a:endParaRPr/>
          </a:p>
          <a:p>
            <a:pPr indent="0" lvl="0" marL="0" rtl="0" algn="l">
              <a:spcBef>
                <a:spcPts val="0"/>
              </a:spcBef>
              <a:spcAft>
                <a:spcPts val="0"/>
              </a:spcAft>
              <a:buClr>
                <a:schemeClr val="dk1"/>
              </a:buClr>
              <a:buSzPts val="1100"/>
              <a:buFont typeface="Arial"/>
              <a:buNone/>
            </a:pPr>
            <a:r>
              <a:rPr lang="zh-TW"/>
              <a:t>nvidia/llama-3.1-nemoguard-8b-content-safety</a:t>
            </a:r>
            <a:endParaRPr/>
          </a:p>
          <a:p>
            <a:pPr indent="0" lvl="0" marL="0" rtl="0" algn="l">
              <a:spcBef>
                <a:spcPts val="0"/>
              </a:spcBef>
              <a:spcAft>
                <a:spcPts val="0"/>
              </a:spcAft>
              <a:buClr>
                <a:schemeClr val="dk1"/>
              </a:buClr>
              <a:buSzPts val="1100"/>
              <a:buFont typeface="Arial"/>
              <a:buNone/>
            </a:pPr>
            <a:r>
              <a:rPr lang="zh-TW"/>
              <a:t>nvidia/llama-3.1-nemoguard-8b-topic-control</a:t>
            </a:r>
            <a:endParaRPr/>
          </a:p>
          <a:p>
            <a:pPr indent="0" lvl="0" marL="0" rtl="0" algn="l">
              <a:spcBef>
                <a:spcPts val="0"/>
              </a:spcBef>
              <a:spcAft>
                <a:spcPts val="0"/>
              </a:spcAft>
              <a:buClr>
                <a:schemeClr val="dk1"/>
              </a:buClr>
              <a:buSzPts val="1100"/>
              <a:buFont typeface="Arial"/>
              <a:buNone/>
            </a:pPr>
            <a:r>
              <a:rPr lang="zh-TW"/>
              <a:t>nvidia/llama-3.1-nemotron-51b-instruct</a:t>
            </a:r>
            <a:endParaRPr/>
          </a:p>
          <a:p>
            <a:pPr indent="0" lvl="0" marL="0" rtl="0" algn="l">
              <a:spcBef>
                <a:spcPts val="0"/>
              </a:spcBef>
              <a:spcAft>
                <a:spcPts val="0"/>
              </a:spcAft>
              <a:buClr>
                <a:schemeClr val="dk1"/>
              </a:buClr>
              <a:buSzPts val="1100"/>
              <a:buFont typeface="Arial"/>
              <a:buNone/>
            </a:pPr>
            <a:r>
              <a:rPr lang="zh-TW"/>
              <a:t>nvidia/llama-3.1-nemotron-70b-instruct</a:t>
            </a:r>
            <a:endParaRPr/>
          </a:p>
          <a:p>
            <a:pPr indent="0" lvl="0" marL="0" rtl="0" algn="l">
              <a:spcBef>
                <a:spcPts val="0"/>
              </a:spcBef>
              <a:spcAft>
                <a:spcPts val="0"/>
              </a:spcAft>
              <a:buClr>
                <a:schemeClr val="dk1"/>
              </a:buClr>
              <a:buSzPts val="1100"/>
              <a:buFont typeface="Arial"/>
              <a:buNone/>
            </a:pPr>
            <a:r>
              <a:rPr lang="zh-TW"/>
              <a:t>nvidia/llama-3.1-nemotron-70b-reward</a:t>
            </a:r>
            <a:endParaRPr/>
          </a:p>
          <a:p>
            <a:pPr indent="0" lvl="0" marL="0" rtl="0" algn="l">
              <a:spcBef>
                <a:spcPts val="0"/>
              </a:spcBef>
              <a:spcAft>
                <a:spcPts val="0"/>
              </a:spcAft>
              <a:buClr>
                <a:schemeClr val="dk1"/>
              </a:buClr>
              <a:buSzPts val="1100"/>
              <a:buFont typeface="Arial"/>
              <a:buNone/>
            </a:pPr>
            <a:r>
              <a:rPr lang="zh-TW"/>
              <a:t>nvidia/llama-3.1-nemotron-nano-8b-v1</a:t>
            </a:r>
            <a:endParaRPr/>
          </a:p>
          <a:p>
            <a:pPr indent="0" lvl="0" marL="0" rtl="0" algn="l">
              <a:spcBef>
                <a:spcPts val="0"/>
              </a:spcBef>
              <a:spcAft>
                <a:spcPts val="0"/>
              </a:spcAft>
              <a:buClr>
                <a:schemeClr val="dk1"/>
              </a:buClr>
              <a:buSzPts val="1100"/>
              <a:buFont typeface="Arial"/>
              <a:buNone/>
            </a:pPr>
            <a:r>
              <a:rPr lang="zh-TW"/>
              <a:t>nvidia/llama-3.1-nemotron-nano-vl-8b-v1</a:t>
            </a:r>
            <a:endParaRPr/>
          </a:p>
          <a:p>
            <a:pPr indent="0" lvl="0" marL="0" rtl="0" algn="l">
              <a:spcBef>
                <a:spcPts val="0"/>
              </a:spcBef>
              <a:spcAft>
                <a:spcPts val="0"/>
              </a:spcAft>
              <a:buClr>
                <a:schemeClr val="dk1"/>
              </a:buClr>
              <a:buSzPts val="1100"/>
              <a:buFont typeface="Arial"/>
              <a:buNone/>
            </a:pPr>
            <a:r>
              <a:rPr lang="zh-TW"/>
              <a:t>nvidia/llama-3.1-nemotron-ultra-253b-v1</a:t>
            </a:r>
            <a:endParaRPr/>
          </a:p>
          <a:p>
            <a:pPr indent="0" lvl="0" marL="0" rtl="0" algn="l">
              <a:spcBef>
                <a:spcPts val="0"/>
              </a:spcBef>
              <a:spcAft>
                <a:spcPts val="0"/>
              </a:spcAft>
              <a:buClr>
                <a:schemeClr val="dk1"/>
              </a:buClr>
              <a:buSzPts val="1100"/>
              <a:buFont typeface="Arial"/>
              <a:buNone/>
            </a:pPr>
            <a:r>
              <a:rPr lang="zh-TW"/>
              <a:t>nvidia/llama-3.2-nv-embedqa-1b-v1</a:t>
            </a:r>
            <a:endParaRPr/>
          </a:p>
          <a:p>
            <a:pPr indent="0" lvl="0" marL="0" rtl="0" algn="l">
              <a:spcBef>
                <a:spcPts val="0"/>
              </a:spcBef>
              <a:spcAft>
                <a:spcPts val="0"/>
              </a:spcAft>
              <a:buClr>
                <a:schemeClr val="dk1"/>
              </a:buClr>
              <a:buSzPts val="1100"/>
              <a:buFont typeface="Arial"/>
              <a:buNone/>
            </a:pPr>
            <a:r>
              <a:rPr lang="zh-TW"/>
              <a:t>nvidia/llama-3.2-nv-embedqa-1b-v2</a:t>
            </a:r>
            <a:endParaRPr/>
          </a:p>
          <a:p>
            <a:pPr indent="0" lvl="0" marL="0" rtl="0" algn="l">
              <a:spcBef>
                <a:spcPts val="0"/>
              </a:spcBef>
              <a:spcAft>
                <a:spcPts val="0"/>
              </a:spcAft>
              <a:buClr>
                <a:schemeClr val="dk1"/>
              </a:buClr>
              <a:buSzPts val="1100"/>
              <a:buFont typeface="Arial"/>
              <a:buNone/>
            </a:pPr>
            <a:r>
              <a:rPr lang="zh-TW"/>
              <a:t>nvidia/llama-3.3-nemotron-super-49b-v1</a:t>
            </a:r>
            <a:endParaRPr/>
          </a:p>
          <a:p>
            <a:pPr indent="0" lvl="0" marL="0" rtl="0" algn="l">
              <a:spcBef>
                <a:spcPts val="0"/>
              </a:spcBef>
              <a:spcAft>
                <a:spcPts val="0"/>
              </a:spcAft>
              <a:buClr>
                <a:schemeClr val="dk1"/>
              </a:buClr>
              <a:buSzPts val="1100"/>
              <a:buFont typeface="Arial"/>
              <a:buNone/>
            </a:pPr>
            <a:r>
              <a:rPr lang="zh-TW"/>
              <a:t>nvidia/llama3-chatqa-1.5-70b</a:t>
            </a:r>
            <a:endParaRPr/>
          </a:p>
          <a:p>
            <a:pPr indent="0" lvl="0" marL="0" rtl="0" algn="l">
              <a:spcBef>
                <a:spcPts val="0"/>
              </a:spcBef>
              <a:spcAft>
                <a:spcPts val="0"/>
              </a:spcAft>
              <a:buClr>
                <a:schemeClr val="dk1"/>
              </a:buClr>
              <a:buSzPts val="1100"/>
              <a:buFont typeface="Arial"/>
              <a:buNone/>
            </a:pPr>
            <a:r>
              <a:rPr lang="zh-TW"/>
              <a:t>nvidia/llama3-chatqa-1.5-8b</a:t>
            </a:r>
            <a:endParaRPr/>
          </a:p>
          <a:p>
            <a:pPr indent="0" lvl="0" marL="0" rtl="0" algn="l">
              <a:spcBef>
                <a:spcPts val="0"/>
              </a:spcBef>
              <a:spcAft>
                <a:spcPts val="0"/>
              </a:spcAft>
              <a:buClr>
                <a:schemeClr val="dk1"/>
              </a:buClr>
              <a:buSzPts val="1100"/>
              <a:buFont typeface="Arial"/>
              <a:buNone/>
            </a:pPr>
            <a:r>
              <a:rPr lang="zh-TW"/>
              <a:t>nvidia/mistral-nemo-minitron-8b-8k-instruct</a:t>
            </a:r>
            <a:endParaRPr/>
          </a:p>
          <a:p>
            <a:pPr indent="0" lvl="0" marL="0" rtl="0" algn="l">
              <a:spcBef>
                <a:spcPts val="0"/>
              </a:spcBef>
              <a:spcAft>
                <a:spcPts val="0"/>
              </a:spcAft>
              <a:buClr>
                <a:schemeClr val="dk1"/>
              </a:buClr>
              <a:buSzPts val="1100"/>
              <a:buFont typeface="Arial"/>
              <a:buNone/>
            </a:pPr>
            <a:r>
              <a:rPr lang="zh-TW"/>
              <a:t>nvidia/mistral-nemo-minitron-8b-base</a:t>
            </a:r>
            <a:endParaRPr/>
          </a:p>
          <a:p>
            <a:pPr indent="0" lvl="0" marL="0" rtl="0" algn="l">
              <a:spcBef>
                <a:spcPts val="0"/>
              </a:spcBef>
              <a:spcAft>
                <a:spcPts val="0"/>
              </a:spcAft>
              <a:buClr>
                <a:schemeClr val="dk1"/>
              </a:buClr>
              <a:buSzPts val="1100"/>
              <a:buFont typeface="Arial"/>
              <a:buNone/>
            </a:pPr>
            <a:r>
              <a:rPr lang="zh-TW"/>
              <a:t>nvidia/nemoretriever-parse</a:t>
            </a:r>
            <a:endParaRPr/>
          </a:p>
          <a:p>
            <a:pPr indent="0" lvl="0" marL="0" rtl="0" algn="l">
              <a:spcBef>
                <a:spcPts val="0"/>
              </a:spcBef>
              <a:spcAft>
                <a:spcPts val="0"/>
              </a:spcAft>
              <a:buClr>
                <a:schemeClr val="dk1"/>
              </a:buClr>
              <a:buSzPts val="1100"/>
              <a:buFont typeface="Arial"/>
              <a:buNone/>
            </a:pPr>
            <a:r>
              <a:rPr lang="zh-TW"/>
              <a:t>nvidia/nemotron-4-340b-instruct</a:t>
            </a:r>
            <a:endParaRPr/>
          </a:p>
          <a:p>
            <a:pPr indent="0" lvl="0" marL="0" rtl="0" algn="l">
              <a:spcBef>
                <a:spcPts val="0"/>
              </a:spcBef>
              <a:spcAft>
                <a:spcPts val="0"/>
              </a:spcAft>
              <a:buClr>
                <a:schemeClr val="dk1"/>
              </a:buClr>
              <a:buSzPts val="1100"/>
              <a:buFont typeface="Arial"/>
              <a:buNone/>
            </a:pPr>
            <a:r>
              <a:rPr lang="zh-TW"/>
              <a:t>nvidia/nemotron-4-340b-reward</a:t>
            </a:r>
            <a:endParaRPr/>
          </a:p>
          <a:p>
            <a:pPr indent="0" lvl="0" marL="0" rtl="0" algn="l">
              <a:spcBef>
                <a:spcPts val="0"/>
              </a:spcBef>
              <a:spcAft>
                <a:spcPts val="0"/>
              </a:spcAft>
              <a:buClr>
                <a:schemeClr val="dk1"/>
              </a:buClr>
              <a:buSzPts val="1100"/>
              <a:buFont typeface="Arial"/>
              <a:buNone/>
            </a:pPr>
            <a:r>
              <a:rPr lang="zh-TW"/>
              <a:t>nvidia/nemotron-4-mini-hindi-4b-instruct</a:t>
            </a:r>
            <a:endParaRPr/>
          </a:p>
          <a:p>
            <a:pPr indent="0" lvl="0" marL="0" rtl="0" algn="l">
              <a:spcBef>
                <a:spcPts val="0"/>
              </a:spcBef>
              <a:spcAft>
                <a:spcPts val="0"/>
              </a:spcAft>
              <a:buClr>
                <a:schemeClr val="dk1"/>
              </a:buClr>
              <a:buSzPts val="1100"/>
              <a:buFont typeface="Arial"/>
              <a:buNone/>
            </a:pPr>
            <a:r>
              <a:rPr lang="zh-TW"/>
              <a:t>nvidia/nemotron-mini-4b-instruct</a:t>
            </a:r>
            <a:endParaRPr/>
          </a:p>
          <a:p>
            <a:pPr indent="0" lvl="0" marL="0" rtl="0" algn="l">
              <a:spcBef>
                <a:spcPts val="0"/>
              </a:spcBef>
              <a:spcAft>
                <a:spcPts val="0"/>
              </a:spcAft>
              <a:buClr>
                <a:schemeClr val="dk1"/>
              </a:buClr>
              <a:buSzPts val="1100"/>
              <a:buFont typeface="Arial"/>
              <a:buNone/>
            </a:pPr>
            <a:r>
              <a:rPr lang="zh-TW"/>
              <a:t>nvidia/neva-22b</a:t>
            </a:r>
            <a:endParaRPr/>
          </a:p>
          <a:p>
            <a:pPr indent="0" lvl="0" marL="0" rtl="0" algn="l">
              <a:spcBef>
                <a:spcPts val="0"/>
              </a:spcBef>
              <a:spcAft>
                <a:spcPts val="0"/>
              </a:spcAft>
              <a:buClr>
                <a:schemeClr val="dk1"/>
              </a:buClr>
              <a:buSzPts val="1100"/>
              <a:buFont typeface="Arial"/>
              <a:buNone/>
            </a:pPr>
            <a:r>
              <a:rPr lang="zh-TW"/>
              <a:t>nvidia/nv-embed-v1</a:t>
            </a:r>
            <a:endParaRPr/>
          </a:p>
          <a:p>
            <a:pPr indent="0" lvl="0" marL="0" rtl="0" algn="l">
              <a:spcBef>
                <a:spcPts val="0"/>
              </a:spcBef>
              <a:spcAft>
                <a:spcPts val="0"/>
              </a:spcAft>
              <a:buClr>
                <a:schemeClr val="dk1"/>
              </a:buClr>
              <a:buSzPts val="1100"/>
              <a:buFont typeface="Arial"/>
              <a:buNone/>
            </a:pPr>
            <a:r>
              <a:rPr lang="zh-TW"/>
              <a:t>nvidia/nv-embedcode-7b-v1</a:t>
            </a:r>
            <a:endParaRPr/>
          </a:p>
          <a:p>
            <a:pPr indent="0" lvl="0" marL="0" rtl="0" algn="l">
              <a:spcBef>
                <a:spcPts val="0"/>
              </a:spcBef>
              <a:spcAft>
                <a:spcPts val="0"/>
              </a:spcAft>
              <a:buClr>
                <a:schemeClr val="dk1"/>
              </a:buClr>
              <a:buSzPts val="1100"/>
              <a:buFont typeface="Arial"/>
              <a:buNone/>
            </a:pPr>
            <a:r>
              <a:rPr lang="zh-TW"/>
              <a:t>nvidia/nv-embedqa-e5-v5</a:t>
            </a:r>
            <a:endParaRPr/>
          </a:p>
          <a:p>
            <a:pPr indent="0" lvl="0" marL="0" rtl="0" algn="l">
              <a:spcBef>
                <a:spcPts val="0"/>
              </a:spcBef>
              <a:spcAft>
                <a:spcPts val="0"/>
              </a:spcAft>
              <a:buClr>
                <a:schemeClr val="dk1"/>
              </a:buClr>
              <a:buSzPts val="1100"/>
              <a:buFont typeface="Arial"/>
              <a:buNone/>
            </a:pPr>
            <a:r>
              <a:rPr lang="zh-TW"/>
              <a:t>nvidia/nv-embedqa-mistral-7b-v2</a:t>
            </a:r>
            <a:endParaRPr/>
          </a:p>
          <a:p>
            <a:pPr indent="0" lvl="0" marL="0" rtl="0" algn="l">
              <a:spcBef>
                <a:spcPts val="0"/>
              </a:spcBef>
              <a:spcAft>
                <a:spcPts val="0"/>
              </a:spcAft>
              <a:buClr>
                <a:schemeClr val="dk1"/>
              </a:buClr>
              <a:buSzPts val="1100"/>
              <a:buFont typeface="Arial"/>
              <a:buNone/>
            </a:pPr>
            <a:r>
              <a:rPr lang="zh-TW"/>
              <a:t>nvidia/nvclip</a:t>
            </a:r>
            <a:endParaRPr/>
          </a:p>
          <a:p>
            <a:pPr indent="0" lvl="0" marL="0" rtl="0" algn="l">
              <a:spcBef>
                <a:spcPts val="0"/>
              </a:spcBef>
              <a:spcAft>
                <a:spcPts val="0"/>
              </a:spcAft>
              <a:buClr>
                <a:schemeClr val="dk1"/>
              </a:buClr>
              <a:buSzPts val="1100"/>
              <a:buFont typeface="Arial"/>
              <a:buNone/>
            </a:pPr>
            <a:r>
              <a:rPr lang="zh-TW"/>
              <a:t>nvidia/usdcode-llama-3.1-70b-instruct</a:t>
            </a:r>
            <a:endParaRPr/>
          </a:p>
          <a:p>
            <a:pPr indent="0" lvl="0" marL="0" rtl="0" algn="l">
              <a:spcBef>
                <a:spcPts val="0"/>
              </a:spcBef>
              <a:spcAft>
                <a:spcPts val="0"/>
              </a:spcAft>
              <a:buClr>
                <a:schemeClr val="dk1"/>
              </a:buClr>
              <a:buSzPts val="1100"/>
              <a:buFont typeface="Arial"/>
              <a:buNone/>
            </a:pPr>
            <a:r>
              <a:rPr lang="zh-TW"/>
              <a:t>nvidia/vila</a:t>
            </a:r>
            <a:endParaRPr/>
          </a:p>
          <a:p>
            <a:pPr indent="0" lvl="0" marL="0" rtl="0" algn="l">
              <a:spcBef>
                <a:spcPts val="0"/>
              </a:spcBef>
              <a:spcAft>
                <a:spcPts val="0"/>
              </a:spcAft>
              <a:buClr>
                <a:schemeClr val="dk1"/>
              </a:buClr>
              <a:buSzPts val="1100"/>
              <a:buFont typeface="Arial"/>
              <a:buNone/>
            </a:pPr>
            <a:r>
              <a:rPr lang="zh-TW"/>
              <a:t>qwen/qwen2-7b-instruct</a:t>
            </a:r>
            <a:endParaRPr/>
          </a:p>
          <a:p>
            <a:pPr indent="0" lvl="0" marL="0" rtl="0" algn="l">
              <a:spcBef>
                <a:spcPts val="0"/>
              </a:spcBef>
              <a:spcAft>
                <a:spcPts val="0"/>
              </a:spcAft>
              <a:buClr>
                <a:schemeClr val="dk1"/>
              </a:buClr>
              <a:buSzPts val="1100"/>
              <a:buFont typeface="Arial"/>
              <a:buNone/>
            </a:pPr>
            <a:r>
              <a:rPr lang="zh-TW"/>
              <a:t>qwen/qwen2.5-7b-instruct</a:t>
            </a:r>
            <a:endParaRPr/>
          </a:p>
          <a:p>
            <a:pPr indent="0" lvl="0" marL="0" rtl="0" algn="l">
              <a:spcBef>
                <a:spcPts val="0"/>
              </a:spcBef>
              <a:spcAft>
                <a:spcPts val="0"/>
              </a:spcAft>
              <a:buClr>
                <a:schemeClr val="dk1"/>
              </a:buClr>
              <a:buSzPts val="1100"/>
              <a:buFont typeface="Arial"/>
              <a:buNone/>
            </a:pPr>
            <a:r>
              <a:rPr lang="zh-TW"/>
              <a:t>qwen/qwen2.5-coder-32b-instruct</a:t>
            </a:r>
            <a:endParaRPr/>
          </a:p>
          <a:p>
            <a:pPr indent="0" lvl="0" marL="0" rtl="0" algn="l">
              <a:spcBef>
                <a:spcPts val="0"/>
              </a:spcBef>
              <a:spcAft>
                <a:spcPts val="0"/>
              </a:spcAft>
              <a:buClr>
                <a:schemeClr val="dk1"/>
              </a:buClr>
              <a:buSzPts val="1100"/>
              <a:buFont typeface="Arial"/>
              <a:buNone/>
            </a:pPr>
            <a:r>
              <a:rPr lang="zh-TW"/>
              <a:t>qwen/qwen2.5-coder-7b-instruct</a:t>
            </a:r>
            <a:endParaRPr/>
          </a:p>
          <a:p>
            <a:pPr indent="0" lvl="0" marL="0" rtl="0" algn="l">
              <a:spcBef>
                <a:spcPts val="0"/>
              </a:spcBef>
              <a:spcAft>
                <a:spcPts val="0"/>
              </a:spcAft>
              <a:buClr>
                <a:schemeClr val="dk1"/>
              </a:buClr>
              <a:buSzPts val="1100"/>
              <a:buFont typeface="Arial"/>
              <a:buNone/>
            </a:pPr>
            <a:r>
              <a:rPr lang="zh-TW"/>
              <a:t>qwen/qwen3-235b-a22b</a:t>
            </a:r>
            <a:endParaRPr/>
          </a:p>
          <a:p>
            <a:pPr indent="0" lvl="0" marL="0" rtl="0" algn="l">
              <a:spcBef>
                <a:spcPts val="0"/>
              </a:spcBef>
              <a:spcAft>
                <a:spcPts val="0"/>
              </a:spcAft>
              <a:buClr>
                <a:schemeClr val="dk1"/>
              </a:buClr>
              <a:buSzPts val="1100"/>
              <a:buFont typeface="Arial"/>
              <a:buNone/>
            </a:pPr>
            <a:r>
              <a:rPr lang="zh-TW"/>
              <a:t>qwen/qwq-32b</a:t>
            </a:r>
            <a:endParaRPr/>
          </a:p>
          <a:p>
            <a:pPr indent="0" lvl="0" marL="0" rtl="0" algn="l">
              <a:spcBef>
                <a:spcPts val="0"/>
              </a:spcBef>
              <a:spcAft>
                <a:spcPts val="0"/>
              </a:spcAft>
              <a:buClr>
                <a:schemeClr val="dk1"/>
              </a:buClr>
              <a:buSzPts val="1100"/>
              <a:buFont typeface="Arial"/>
              <a:buNone/>
            </a:pPr>
            <a:r>
              <a:rPr lang="zh-TW"/>
              <a:t>rakuten/rakutenai-7b-chat</a:t>
            </a:r>
            <a:endParaRPr/>
          </a:p>
          <a:p>
            <a:pPr indent="0" lvl="0" marL="0" rtl="0" algn="l">
              <a:spcBef>
                <a:spcPts val="0"/>
              </a:spcBef>
              <a:spcAft>
                <a:spcPts val="0"/>
              </a:spcAft>
              <a:buClr>
                <a:schemeClr val="dk1"/>
              </a:buClr>
              <a:buSzPts val="1100"/>
              <a:buFont typeface="Arial"/>
              <a:buNone/>
            </a:pPr>
            <a:r>
              <a:rPr lang="zh-TW"/>
              <a:t>rakuten/rakutenai-7b-instruct</a:t>
            </a:r>
            <a:endParaRPr/>
          </a:p>
          <a:p>
            <a:pPr indent="0" lvl="0" marL="0" rtl="0" algn="l">
              <a:spcBef>
                <a:spcPts val="0"/>
              </a:spcBef>
              <a:spcAft>
                <a:spcPts val="0"/>
              </a:spcAft>
              <a:buClr>
                <a:schemeClr val="dk1"/>
              </a:buClr>
              <a:buSzPts val="1100"/>
              <a:buFont typeface="Arial"/>
              <a:buNone/>
            </a:pPr>
            <a:r>
              <a:rPr lang="zh-TW"/>
              <a:t>snowflake/arctic-embed-l</a:t>
            </a:r>
            <a:endParaRPr/>
          </a:p>
          <a:p>
            <a:pPr indent="0" lvl="0" marL="0" rtl="0" algn="l">
              <a:spcBef>
                <a:spcPts val="0"/>
              </a:spcBef>
              <a:spcAft>
                <a:spcPts val="0"/>
              </a:spcAft>
              <a:buClr>
                <a:schemeClr val="dk1"/>
              </a:buClr>
              <a:buSzPts val="1100"/>
              <a:buFont typeface="Arial"/>
              <a:buNone/>
            </a:pPr>
            <a:r>
              <a:rPr lang="zh-TW"/>
              <a:t>thudm/chatglm3-6b</a:t>
            </a:r>
            <a:endParaRPr/>
          </a:p>
          <a:p>
            <a:pPr indent="0" lvl="0" marL="0" rtl="0" algn="l">
              <a:spcBef>
                <a:spcPts val="0"/>
              </a:spcBef>
              <a:spcAft>
                <a:spcPts val="0"/>
              </a:spcAft>
              <a:buClr>
                <a:schemeClr val="dk1"/>
              </a:buClr>
              <a:buSzPts val="1100"/>
              <a:buFont typeface="Arial"/>
              <a:buNone/>
            </a:pPr>
            <a:r>
              <a:rPr lang="zh-TW"/>
              <a:t>tiiuae/falcon3-7b-instruct</a:t>
            </a:r>
            <a:endParaRPr/>
          </a:p>
          <a:p>
            <a:pPr indent="0" lvl="0" marL="0" rtl="0" algn="l">
              <a:spcBef>
                <a:spcPts val="0"/>
              </a:spcBef>
              <a:spcAft>
                <a:spcPts val="0"/>
              </a:spcAft>
              <a:buClr>
                <a:schemeClr val="dk1"/>
              </a:buClr>
              <a:buSzPts val="1100"/>
              <a:buFont typeface="Arial"/>
              <a:buNone/>
            </a:pPr>
            <a:r>
              <a:rPr lang="zh-TW"/>
              <a:t>tokyotech-llm/llama-3-swallow-70b-instruct-v0.1</a:t>
            </a:r>
            <a:endParaRPr/>
          </a:p>
          <a:p>
            <a:pPr indent="0" lvl="0" marL="0" rtl="0" algn="l">
              <a:spcBef>
                <a:spcPts val="0"/>
              </a:spcBef>
              <a:spcAft>
                <a:spcPts val="0"/>
              </a:spcAft>
              <a:buClr>
                <a:schemeClr val="dk1"/>
              </a:buClr>
              <a:buSzPts val="1100"/>
              <a:buFont typeface="Arial"/>
              <a:buNone/>
            </a:pPr>
            <a:r>
              <a:rPr lang="zh-TW"/>
              <a:t>upstage/solar-10.7b-instruct</a:t>
            </a:r>
            <a:endParaRPr/>
          </a:p>
          <a:p>
            <a:pPr indent="0" lvl="0" marL="0" rtl="0" algn="l">
              <a:spcBef>
                <a:spcPts val="0"/>
              </a:spcBef>
              <a:spcAft>
                <a:spcPts val="0"/>
              </a:spcAft>
              <a:buClr>
                <a:schemeClr val="dk1"/>
              </a:buClr>
              <a:buSzPts val="1100"/>
              <a:buFont typeface="Arial"/>
              <a:buNone/>
            </a:pPr>
            <a:r>
              <a:rPr lang="zh-TW"/>
              <a:t>utter-project/eurollm-9b-instruct</a:t>
            </a:r>
            <a:endParaRPr/>
          </a:p>
          <a:p>
            <a:pPr indent="0" lvl="0" marL="0" rtl="0" algn="l">
              <a:spcBef>
                <a:spcPts val="0"/>
              </a:spcBef>
              <a:spcAft>
                <a:spcPts val="0"/>
              </a:spcAft>
              <a:buClr>
                <a:schemeClr val="dk1"/>
              </a:buClr>
              <a:buSzPts val="1100"/>
              <a:buFont typeface="Arial"/>
              <a:buNone/>
            </a:pPr>
            <a:r>
              <a:rPr lang="zh-TW"/>
              <a:t>writer/palmyra-creative-122b</a:t>
            </a:r>
            <a:endParaRPr/>
          </a:p>
          <a:p>
            <a:pPr indent="0" lvl="0" marL="0" rtl="0" algn="l">
              <a:spcBef>
                <a:spcPts val="0"/>
              </a:spcBef>
              <a:spcAft>
                <a:spcPts val="0"/>
              </a:spcAft>
              <a:buClr>
                <a:schemeClr val="dk1"/>
              </a:buClr>
              <a:buSzPts val="1100"/>
              <a:buFont typeface="Arial"/>
              <a:buNone/>
            </a:pPr>
            <a:r>
              <a:rPr lang="zh-TW"/>
              <a:t>writer/palmyra-fin-70b-32k</a:t>
            </a:r>
            <a:endParaRPr/>
          </a:p>
          <a:p>
            <a:pPr indent="0" lvl="0" marL="0" rtl="0" algn="l">
              <a:spcBef>
                <a:spcPts val="0"/>
              </a:spcBef>
              <a:spcAft>
                <a:spcPts val="0"/>
              </a:spcAft>
              <a:buClr>
                <a:schemeClr val="dk1"/>
              </a:buClr>
              <a:buSzPts val="1100"/>
              <a:buFont typeface="Arial"/>
              <a:buNone/>
            </a:pPr>
            <a:r>
              <a:rPr lang="zh-TW"/>
              <a:t>writer/palmyra-med-70b</a:t>
            </a:r>
            <a:endParaRPr/>
          </a:p>
          <a:p>
            <a:pPr indent="0" lvl="0" marL="0" rtl="0" algn="l">
              <a:spcBef>
                <a:spcPts val="0"/>
              </a:spcBef>
              <a:spcAft>
                <a:spcPts val="0"/>
              </a:spcAft>
              <a:buClr>
                <a:schemeClr val="dk1"/>
              </a:buClr>
              <a:buSzPts val="1100"/>
              <a:buFont typeface="Arial"/>
              <a:buNone/>
            </a:pPr>
            <a:r>
              <a:rPr lang="zh-TW"/>
              <a:t>writer/palmyra-med-70b-32k</a:t>
            </a:r>
            <a:endParaRPr/>
          </a:p>
          <a:p>
            <a:pPr indent="0" lvl="0" marL="0" rtl="0" algn="l">
              <a:spcBef>
                <a:spcPts val="0"/>
              </a:spcBef>
              <a:spcAft>
                <a:spcPts val="0"/>
              </a:spcAft>
              <a:buClr>
                <a:schemeClr val="dk1"/>
              </a:buClr>
              <a:buSzPts val="1100"/>
              <a:buFont typeface="Arial"/>
              <a:buNone/>
            </a:pPr>
            <a:r>
              <a:rPr lang="zh-TW"/>
              <a:t>yentinglin/llama-3-taiwan-70b-instruct</a:t>
            </a:r>
            <a:endParaRPr/>
          </a:p>
          <a:p>
            <a:pPr indent="0" lvl="0" marL="0" rtl="0" algn="l">
              <a:spcBef>
                <a:spcPts val="0"/>
              </a:spcBef>
              <a:spcAft>
                <a:spcPts val="0"/>
              </a:spcAft>
              <a:buClr>
                <a:schemeClr val="dk1"/>
              </a:buClr>
              <a:buSzPts val="1100"/>
              <a:buFont typeface="Arial"/>
              <a:buNone/>
            </a:pPr>
            <a:r>
              <a:rPr lang="zh-TW"/>
              <a:t>zyphra/zamba2-7b-instruct</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5d66f182cf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5d66f182cf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5d66f182cf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5d66f182cf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5d66f182cf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5d66f182cf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5d66f182cf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5d66f182cf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5ce8284777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5ce8284777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5ce8284777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5ce8284777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5d43bc7c0d_1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5d43bc7c0d_1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5ce8284777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5ce8284777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zh-TW"/>
              <a:t>先用一張圖說明目前的測試架構，以及各自所使用之軟硬體。</a:t>
            </a:r>
            <a:endParaRPr/>
          </a:p>
          <a:p>
            <a:pPr indent="-298450" lvl="0" marL="457200" rtl="0" algn="l">
              <a:spcBef>
                <a:spcPts val="0"/>
              </a:spcBef>
              <a:spcAft>
                <a:spcPts val="0"/>
              </a:spcAft>
              <a:buSzPts val="1100"/>
              <a:buAutoNum type="arabicPeriod"/>
            </a:pPr>
            <a:r>
              <a:rPr lang="zh-TW"/>
              <a:t>說明VIAVI RIC Test設定的拓樸與參數為何。</a:t>
            </a:r>
            <a:endParaRPr/>
          </a:p>
          <a:p>
            <a:pPr indent="-298450" lvl="0" marL="457200" rtl="0" algn="l">
              <a:spcBef>
                <a:spcPts val="0"/>
              </a:spcBef>
              <a:spcAft>
                <a:spcPts val="0"/>
              </a:spcAft>
              <a:buSzPts val="1100"/>
              <a:buAutoNum type="arabicPeriod"/>
            </a:pPr>
            <a:r>
              <a:rPr lang="zh-TW"/>
              <a:t>根據各個Test Case說明其目的，與測試結果，並且分析。</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5ce8284777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5ce8284777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5ce8284777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5ce8284777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5ad6901fb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5ad6901fb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5ad6901fb5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5ad6901fb5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5ad6901fb5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5ad6901fb5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5ad6901fb5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5ad6901fb5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5ad6901fb5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5ad6901fb5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5ad6901fb5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5ad6901fb5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5ad6901fb5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5ad6901fb5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5ad6901fb5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5ad6901fb5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5ae28cec42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5ae28cec42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5ae28cec42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5ae28cec42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5ae28cec4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5ae28cec4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5ae28cec42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5ae28cec42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5ae28cec42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5ae28cec42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arxiv.org/pdf/2306.05685" TargetMode="External"/><Relationship Id="rId4" Type="http://schemas.openxmlformats.org/officeDocument/2006/relationships/hyperlink" Target="https://arxiv.org/pdf/2303.16634"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huggingface.co/spaces/ArtificialAnalysis/LLM-Performance-Leaderboard" TargetMode="Externa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0.png"/><Relationship Id="rId4" Type="http://schemas.openxmlformats.org/officeDocument/2006/relationships/hyperlink" Target="https://arxiv.org/html/2406.01768v1" TargetMode="External"/><Relationship Id="rId5"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7.png"/><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567000" y="1837800"/>
            <a:ext cx="8010000" cy="954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sz="2500">
                <a:solidFill>
                  <a:schemeClr val="dk1"/>
                </a:solidFill>
                <a:latin typeface="Comic Sans MS"/>
                <a:ea typeface="Comic Sans MS"/>
                <a:cs typeface="Comic Sans MS"/>
                <a:sym typeface="Comic Sans MS"/>
              </a:rPr>
              <a:t>Automatically configure O-DU O-RU tool </a:t>
            </a:r>
            <a:endParaRPr sz="2500">
              <a:solidFill>
                <a:schemeClr val="dk1"/>
              </a:solidFill>
              <a:latin typeface="Comic Sans MS"/>
              <a:ea typeface="Comic Sans MS"/>
              <a:cs typeface="Comic Sans MS"/>
              <a:sym typeface="Comic Sans MS"/>
            </a:endParaRPr>
          </a:p>
          <a:p>
            <a:pPr indent="0" lvl="0" marL="0" rtl="0" algn="ctr">
              <a:spcBef>
                <a:spcPts val="0"/>
              </a:spcBef>
              <a:spcAft>
                <a:spcPts val="0"/>
              </a:spcAft>
              <a:buNone/>
            </a:pPr>
            <a:r>
              <a:rPr lang="zh-TW" sz="2500">
                <a:solidFill>
                  <a:schemeClr val="dk1"/>
                </a:solidFill>
                <a:latin typeface="Comic Sans MS"/>
                <a:ea typeface="Comic Sans MS"/>
                <a:cs typeface="Comic Sans MS"/>
                <a:sym typeface="Comic Sans MS"/>
              </a:rPr>
              <a:t>based on packet analysis</a:t>
            </a:r>
            <a:endParaRPr sz="2500">
              <a:solidFill>
                <a:schemeClr val="dk1"/>
              </a:solidFill>
              <a:latin typeface="Comic Sans MS"/>
              <a:ea typeface="Comic Sans MS"/>
              <a:cs typeface="Comic Sans MS"/>
              <a:sym typeface="Comic Sans MS"/>
            </a:endParaRPr>
          </a:p>
        </p:txBody>
      </p:sp>
      <p:sp>
        <p:nvSpPr>
          <p:cNvPr id="55" name="Google Shape;55;p13"/>
          <p:cNvSpPr txBox="1"/>
          <p:nvPr/>
        </p:nvSpPr>
        <p:spPr>
          <a:xfrm>
            <a:off x="311700" y="3062725"/>
            <a:ext cx="8520600" cy="7926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None/>
            </a:pPr>
            <a:r>
              <a:t/>
            </a:r>
            <a:endParaRPr sz="1500">
              <a:latin typeface="Comic Sans MS"/>
              <a:ea typeface="Comic Sans MS"/>
              <a:cs typeface="Comic Sans MS"/>
              <a:sym typeface="Comic Sans MS"/>
            </a:endParaRPr>
          </a:p>
          <a:p>
            <a:pPr indent="0" lvl="0" marL="0" rtl="0" algn="ctr">
              <a:lnSpc>
                <a:spcPct val="115000"/>
              </a:lnSpc>
              <a:spcBef>
                <a:spcPts val="0"/>
              </a:spcBef>
              <a:spcAft>
                <a:spcPts val="0"/>
              </a:spcAft>
              <a:buNone/>
            </a:pPr>
            <a:r>
              <a:rPr lang="zh-TW" sz="1500">
                <a:latin typeface="Comic Sans MS"/>
                <a:ea typeface="Comic Sans MS"/>
                <a:cs typeface="Comic Sans MS"/>
                <a:sym typeface="Comic Sans MS"/>
              </a:rPr>
              <a:t>Student: </a:t>
            </a:r>
            <a:endParaRPr sz="1500">
              <a:latin typeface="Comic Sans MS"/>
              <a:ea typeface="Comic Sans MS"/>
              <a:cs typeface="Comic Sans MS"/>
              <a:sym typeface="Comic Sans MS"/>
            </a:endParaRPr>
          </a:p>
          <a:p>
            <a:pPr indent="0" lvl="0" marL="0" rtl="0" algn="ctr">
              <a:lnSpc>
                <a:spcPct val="115000"/>
              </a:lnSpc>
              <a:spcBef>
                <a:spcPts val="0"/>
              </a:spcBef>
              <a:spcAft>
                <a:spcPts val="0"/>
              </a:spcAft>
              <a:buNone/>
            </a:pPr>
            <a:r>
              <a:rPr lang="zh-TW" sz="1500">
                <a:latin typeface="Comic Sans MS"/>
                <a:ea typeface="Comic Sans MS"/>
                <a:cs typeface="Comic Sans MS"/>
                <a:sym typeface="Comic Sans MS"/>
              </a:rPr>
              <a:t>Supervisor: Ray-Guang Cheng</a:t>
            </a:r>
            <a:endParaRPr sz="1500">
              <a:latin typeface="Comic Sans MS"/>
              <a:ea typeface="Comic Sans MS"/>
              <a:cs typeface="Comic Sans MS"/>
              <a:sym typeface="Comic Sans M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1708" y="8207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latin typeface="Comic Sans MS"/>
              <a:ea typeface="Comic Sans MS"/>
              <a:cs typeface="Comic Sans MS"/>
              <a:sym typeface="Comic Sans MS"/>
            </a:endParaRPr>
          </a:p>
          <a:p>
            <a:pPr indent="0" lvl="0" marL="0" rtl="0" algn="ctr">
              <a:spcBef>
                <a:spcPts val="0"/>
              </a:spcBef>
              <a:spcAft>
                <a:spcPts val="0"/>
              </a:spcAft>
              <a:buNone/>
            </a:pPr>
            <a:r>
              <a:t/>
            </a:r>
            <a:endParaRPr sz="1266">
              <a:latin typeface="Comic Sans MS"/>
              <a:ea typeface="Comic Sans MS"/>
              <a:cs typeface="Comic Sans MS"/>
              <a:sym typeface="Comic Sans MS"/>
            </a:endParaRPr>
          </a:p>
          <a:p>
            <a:pPr indent="0" lvl="0" marL="0" rtl="0" algn="ctr">
              <a:spcBef>
                <a:spcPts val="0"/>
              </a:spcBef>
              <a:spcAft>
                <a:spcPts val="0"/>
              </a:spcAft>
              <a:buNone/>
            </a:pPr>
            <a:r>
              <a:rPr lang="zh-TW" sz="2433">
                <a:latin typeface="Comic Sans MS"/>
                <a:ea typeface="Comic Sans MS"/>
                <a:cs typeface="Comic Sans MS"/>
                <a:sym typeface="Comic Sans MS"/>
              </a:rPr>
              <a:t>Introduction</a:t>
            </a:r>
            <a:endParaRPr sz="2433">
              <a:latin typeface="Comic Sans MS"/>
              <a:ea typeface="Comic Sans MS"/>
              <a:cs typeface="Comic Sans MS"/>
              <a:sym typeface="Comic Sans M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nvSpPr>
        <p:spPr>
          <a:xfrm>
            <a:off x="324975" y="8300"/>
            <a:ext cx="5315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700">
                <a:latin typeface="Comic Sans MS"/>
                <a:ea typeface="Comic Sans MS"/>
                <a:cs typeface="Comic Sans MS"/>
                <a:sym typeface="Comic Sans MS"/>
              </a:rPr>
              <a:t>Problem</a:t>
            </a:r>
            <a:endParaRPr sz="1700">
              <a:latin typeface="Comic Sans MS"/>
              <a:ea typeface="Comic Sans MS"/>
              <a:cs typeface="Comic Sans MS"/>
              <a:sym typeface="Comic Sans MS"/>
            </a:endParaRPr>
          </a:p>
        </p:txBody>
      </p:sp>
      <p:sp>
        <p:nvSpPr>
          <p:cNvPr id="66" name="Google Shape;66;p15"/>
          <p:cNvSpPr txBox="1"/>
          <p:nvPr/>
        </p:nvSpPr>
        <p:spPr>
          <a:xfrm>
            <a:off x="556700" y="457950"/>
            <a:ext cx="7613400" cy="985200"/>
          </a:xfrm>
          <a:prstGeom prst="rect">
            <a:avLst/>
          </a:prstGeom>
          <a:noFill/>
          <a:ln>
            <a:noFill/>
          </a:ln>
        </p:spPr>
        <p:txBody>
          <a:bodyPr anchorCtr="0" anchor="t" bIns="91425" lIns="91425" spcFirstLastPara="1" rIns="91425" wrap="square" tIns="91425">
            <a:spAutoFit/>
          </a:bodyPr>
          <a:lstStyle/>
          <a:p>
            <a:pPr indent="0" lvl="0" marL="457200" rtl="0" algn="l">
              <a:lnSpc>
                <a:spcPct val="150000"/>
              </a:lnSpc>
              <a:spcBef>
                <a:spcPts val="0"/>
              </a:spcBef>
              <a:spcAft>
                <a:spcPts val="0"/>
              </a:spcAft>
              <a:buNone/>
            </a:pPr>
            <a:r>
              <a:rPr lang="zh-TW" sz="1300">
                <a:solidFill>
                  <a:schemeClr val="dk1"/>
                </a:solidFill>
                <a:latin typeface="Comic Sans MS"/>
                <a:ea typeface="Comic Sans MS"/>
                <a:cs typeface="Comic Sans MS"/>
                <a:sym typeface="Comic Sans MS"/>
              </a:rPr>
              <a:t>Interoperability testing of O-RAN equipment often fails due to configuration mismatches. The parameter setup is complex and lacks automation, requiring manual effort and expert knowledge.</a:t>
            </a:r>
            <a:endParaRPr sz="1300">
              <a:solidFill>
                <a:schemeClr val="dk1"/>
              </a:solidFill>
              <a:latin typeface="Comic Sans MS"/>
              <a:ea typeface="Comic Sans MS"/>
              <a:cs typeface="Comic Sans MS"/>
              <a:sym typeface="Comic Sans MS"/>
            </a:endParaRPr>
          </a:p>
        </p:txBody>
      </p:sp>
      <p:sp>
        <p:nvSpPr>
          <p:cNvPr id="67" name="Google Shape;67;p15"/>
          <p:cNvSpPr txBox="1"/>
          <p:nvPr/>
        </p:nvSpPr>
        <p:spPr>
          <a:xfrm>
            <a:off x="324975" y="1364550"/>
            <a:ext cx="5315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700">
                <a:latin typeface="Comic Sans MS"/>
                <a:ea typeface="Comic Sans MS"/>
                <a:cs typeface="Comic Sans MS"/>
                <a:sym typeface="Comic Sans MS"/>
              </a:rPr>
              <a:t>Challenge</a:t>
            </a:r>
            <a:endParaRPr sz="1700">
              <a:latin typeface="Comic Sans MS"/>
              <a:ea typeface="Comic Sans MS"/>
              <a:cs typeface="Comic Sans MS"/>
              <a:sym typeface="Comic Sans MS"/>
            </a:endParaRPr>
          </a:p>
        </p:txBody>
      </p:sp>
      <p:sp>
        <p:nvSpPr>
          <p:cNvPr id="68" name="Google Shape;68;p15"/>
          <p:cNvSpPr txBox="1"/>
          <p:nvPr/>
        </p:nvSpPr>
        <p:spPr>
          <a:xfrm>
            <a:off x="324975" y="3254200"/>
            <a:ext cx="5315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700">
                <a:latin typeface="Comic Sans MS"/>
                <a:ea typeface="Comic Sans MS"/>
                <a:cs typeface="Comic Sans MS"/>
                <a:sym typeface="Comic Sans MS"/>
              </a:rPr>
              <a:t>Contribution</a:t>
            </a:r>
            <a:endParaRPr sz="1700">
              <a:latin typeface="Comic Sans MS"/>
              <a:ea typeface="Comic Sans MS"/>
              <a:cs typeface="Comic Sans MS"/>
              <a:sym typeface="Comic Sans MS"/>
            </a:endParaRPr>
          </a:p>
        </p:txBody>
      </p:sp>
      <p:sp>
        <p:nvSpPr>
          <p:cNvPr id="69" name="Google Shape;69;p15"/>
          <p:cNvSpPr txBox="1"/>
          <p:nvPr/>
        </p:nvSpPr>
        <p:spPr>
          <a:xfrm>
            <a:off x="556700" y="3646050"/>
            <a:ext cx="7915800" cy="985200"/>
          </a:xfrm>
          <a:prstGeom prst="rect">
            <a:avLst/>
          </a:prstGeom>
          <a:noFill/>
          <a:ln>
            <a:noFill/>
          </a:ln>
        </p:spPr>
        <p:txBody>
          <a:bodyPr anchorCtr="0" anchor="t" bIns="91425" lIns="91425" spcFirstLastPara="1" rIns="91425" wrap="square" tIns="91425">
            <a:spAutoFit/>
          </a:bodyPr>
          <a:lstStyle/>
          <a:p>
            <a:pPr indent="-311150" lvl="0" marL="457200" rtl="0" algn="l">
              <a:lnSpc>
                <a:spcPct val="150000"/>
              </a:lnSpc>
              <a:spcBef>
                <a:spcPts val="0"/>
              </a:spcBef>
              <a:spcAft>
                <a:spcPts val="0"/>
              </a:spcAft>
              <a:buClr>
                <a:schemeClr val="dk1"/>
              </a:buClr>
              <a:buSzPts val="1300"/>
              <a:buFont typeface="Comic Sans MS"/>
              <a:buAutoNum type="arabicPeriod"/>
            </a:pPr>
            <a:r>
              <a:rPr lang="zh-TW" sz="1300">
                <a:solidFill>
                  <a:schemeClr val="dk1"/>
                </a:solidFill>
                <a:latin typeface="Comic Sans MS"/>
                <a:ea typeface="Comic Sans MS"/>
                <a:cs typeface="Comic Sans MS"/>
                <a:sym typeface="Comic Sans MS"/>
              </a:rPr>
              <a:t>A structured debug.yaml dataset is constructed to systematically map log errors to config fixes, enabling automation and knowledge reuse.</a:t>
            </a:r>
            <a:endParaRPr sz="1300">
              <a:solidFill>
                <a:schemeClr val="dk1"/>
              </a:solidFill>
              <a:latin typeface="Comic Sans MS"/>
              <a:ea typeface="Comic Sans MS"/>
              <a:cs typeface="Comic Sans MS"/>
              <a:sym typeface="Comic Sans MS"/>
            </a:endParaRPr>
          </a:p>
          <a:p>
            <a:pPr indent="-311150" lvl="0" marL="457200" rtl="0" algn="just">
              <a:lnSpc>
                <a:spcPct val="150000"/>
              </a:lnSpc>
              <a:spcBef>
                <a:spcPts val="0"/>
              </a:spcBef>
              <a:spcAft>
                <a:spcPts val="0"/>
              </a:spcAft>
              <a:buClr>
                <a:schemeClr val="dk1"/>
              </a:buClr>
              <a:buSzPts val="1300"/>
              <a:buFont typeface="Comic Sans MS"/>
              <a:buAutoNum type="arabicPeriod"/>
            </a:pPr>
            <a:r>
              <a:rPr lang="zh-TW" sz="1300">
                <a:solidFill>
                  <a:schemeClr val="dk1"/>
                </a:solidFill>
                <a:latin typeface="Comic Sans MS"/>
                <a:ea typeface="Comic Sans MS"/>
                <a:cs typeface="Comic Sans MS"/>
                <a:sym typeface="Comic Sans MS"/>
              </a:rPr>
              <a:t>Use RAG to retrieve semantically relevant debug cases based on logs or PCAPs.</a:t>
            </a:r>
            <a:endParaRPr sz="1300">
              <a:solidFill>
                <a:schemeClr val="dk1"/>
              </a:solidFill>
              <a:latin typeface="Comic Sans MS"/>
              <a:ea typeface="Comic Sans MS"/>
              <a:cs typeface="Comic Sans MS"/>
              <a:sym typeface="Comic Sans MS"/>
            </a:endParaRPr>
          </a:p>
        </p:txBody>
      </p:sp>
      <p:sp>
        <p:nvSpPr>
          <p:cNvPr id="70" name="Google Shape;70;p15"/>
          <p:cNvSpPr txBox="1"/>
          <p:nvPr/>
        </p:nvSpPr>
        <p:spPr>
          <a:xfrm>
            <a:off x="556700" y="1763300"/>
            <a:ext cx="7984500" cy="1515300"/>
          </a:xfrm>
          <a:prstGeom prst="rect">
            <a:avLst/>
          </a:prstGeom>
          <a:noFill/>
          <a:ln>
            <a:noFill/>
          </a:ln>
        </p:spPr>
        <p:txBody>
          <a:bodyPr anchorCtr="0" anchor="t" bIns="91425" lIns="91425" spcFirstLastPara="1" rIns="91425" wrap="square" tIns="91425">
            <a:spAutoFit/>
          </a:bodyPr>
          <a:lstStyle/>
          <a:p>
            <a:pPr indent="-311150" lvl="0" marL="457200" rtl="0" algn="l">
              <a:lnSpc>
                <a:spcPct val="115000"/>
              </a:lnSpc>
              <a:spcBef>
                <a:spcPts val="1200"/>
              </a:spcBef>
              <a:spcAft>
                <a:spcPts val="0"/>
              </a:spcAft>
              <a:buClr>
                <a:schemeClr val="dk1"/>
              </a:buClr>
              <a:buSzPts val="1300"/>
              <a:buFont typeface="Comic Sans MS"/>
              <a:buAutoNum type="arabicPeriod"/>
            </a:pPr>
            <a:r>
              <a:rPr lang="zh-TW" sz="1300">
                <a:solidFill>
                  <a:schemeClr val="dk1"/>
                </a:solidFill>
                <a:latin typeface="Comic Sans MS"/>
                <a:ea typeface="Comic Sans MS"/>
                <a:cs typeface="Comic Sans MS"/>
                <a:sym typeface="Comic Sans MS"/>
              </a:rPr>
              <a:t>Each component requires extensive parameter configuration:</a:t>
            </a:r>
            <a:endParaRPr sz="1300">
              <a:solidFill>
                <a:schemeClr val="dk1"/>
              </a:solidFill>
              <a:latin typeface="Comic Sans MS"/>
              <a:ea typeface="Comic Sans MS"/>
              <a:cs typeface="Comic Sans MS"/>
              <a:sym typeface="Comic Sans MS"/>
            </a:endParaRPr>
          </a:p>
          <a:p>
            <a:pPr indent="-311150" lvl="1" marL="914400" rtl="0" algn="just">
              <a:lnSpc>
                <a:spcPct val="150000"/>
              </a:lnSpc>
              <a:spcBef>
                <a:spcPts val="0"/>
              </a:spcBef>
              <a:spcAft>
                <a:spcPts val="0"/>
              </a:spcAft>
              <a:buClr>
                <a:schemeClr val="dk1"/>
              </a:buClr>
              <a:buSzPts val="1300"/>
              <a:buFont typeface="Comic Sans MS"/>
              <a:buAutoNum type="alphaLcPeriod"/>
            </a:pPr>
            <a:r>
              <a:rPr lang="zh-TW" sz="1300">
                <a:solidFill>
                  <a:schemeClr val="dk1"/>
                </a:solidFill>
                <a:latin typeface="Comic Sans MS"/>
                <a:ea typeface="Comic Sans MS"/>
                <a:cs typeface="Comic Sans MS"/>
                <a:sym typeface="Comic Sans MS"/>
              </a:rPr>
              <a:t>OAI CU (27) / OAI DU (112)</a:t>
            </a:r>
            <a:endParaRPr sz="1300">
              <a:solidFill>
                <a:schemeClr val="dk1"/>
              </a:solidFill>
              <a:latin typeface="Comic Sans MS"/>
              <a:ea typeface="Comic Sans MS"/>
              <a:cs typeface="Comic Sans MS"/>
              <a:sym typeface="Comic Sans MS"/>
            </a:endParaRPr>
          </a:p>
          <a:p>
            <a:pPr indent="-311150" lvl="1" marL="914400" rtl="0" algn="just">
              <a:lnSpc>
                <a:spcPct val="150000"/>
              </a:lnSpc>
              <a:spcBef>
                <a:spcPts val="0"/>
              </a:spcBef>
              <a:spcAft>
                <a:spcPts val="0"/>
              </a:spcAft>
              <a:buClr>
                <a:schemeClr val="dk1"/>
              </a:buClr>
              <a:buSzPts val="1300"/>
              <a:buFont typeface="Comic Sans MS"/>
              <a:buAutoNum type="alphaLcPeriod"/>
            </a:pPr>
            <a:r>
              <a:rPr lang="zh-TW" sz="1300">
                <a:solidFill>
                  <a:schemeClr val="dk1"/>
                </a:solidFill>
                <a:latin typeface="Comic Sans MS"/>
                <a:ea typeface="Comic Sans MS"/>
                <a:cs typeface="Comic Sans MS"/>
                <a:sym typeface="Comic Sans MS"/>
              </a:rPr>
              <a:t>LiteOn RU (22)</a:t>
            </a:r>
            <a:endParaRPr sz="1300">
              <a:solidFill>
                <a:schemeClr val="dk1"/>
              </a:solidFill>
              <a:latin typeface="Comic Sans MS"/>
              <a:ea typeface="Comic Sans MS"/>
              <a:cs typeface="Comic Sans MS"/>
              <a:sym typeface="Comic Sans MS"/>
            </a:endParaRPr>
          </a:p>
          <a:p>
            <a:pPr indent="-311150" lvl="0" marL="457200" rtl="0" algn="just">
              <a:lnSpc>
                <a:spcPct val="150000"/>
              </a:lnSpc>
              <a:spcBef>
                <a:spcPts val="0"/>
              </a:spcBef>
              <a:spcAft>
                <a:spcPts val="0"/>
              </a:spcAft>
              <a:buClr>
                <a:schemeClr val="dk1"/>
              </a:buClr>
              <a:buSzPts val="1300"/>
              <a:buFont typeface="Comic Sans MS"/>
              <a:buAutoNum type="arabicPeriod"/>
            </a:pPr>
            <a:r>
              <a:rPr lang="zh-TW" sz="1300">
                <a:solidFill>
                  <a:schemeClr val="dk1"/>
                </a:solidFill>
                <a:latin typeface="Comic Sans MS"/>
                <a:ea typeface="Comic Sans MS"/>
                <a:cs typeface="Comic Sans MS"/>
                <a:sym typeface="Comic Sans MS"/>
              </a:rPr>
              <a:t>Debugging relies heavily on experienced engineers interpreting logs and PCAPs, which is time-consuming and hard to scale.</a:t>
            </a:r>
            <a:endParaRPr sz="1300">
              <a:solidFill>
                <a:schemeClr val="dk1"/>
              </a:solidFill>
              <a:latin typeface="Comic Sans MS"/>
              <a:ea typeface="Comic Sans MS"/>
              <a:cs typeface="Comic Sans MS"/>
              <a:sym typeface="Comic Sans M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nvSpPr>
        <p:spPr>
          <a:xfrm>
            <a:off x="324975" y="236900"/>
            <a:ext cx="5315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700">
                <a:latin typeface="Comic Sans MS"/>
                <a:ea typeface="Comic Sans MS"/>
                <a:cs typeface="Comic Sans MS"/>
                <a:sym typeface="Comic Sans MS"/>
              </a:rPr>
              <a:t>Related Works</a:t>
            </a:r>
            <a:endParaRPr sz="1700">
              <a:latin typeface="Comic Sans MS"/>
              <a:ea typeface="Comic Sans MS"/>
              <a:cs typeface="Comic Sans MS"/>
              <a:sym typeface="Comic Sans MS"/>
            </a:endParaRPr>
          </a:p>
        </p:txBody>
      </p:sp>
      <p:sp>
        <p:nvSpPr>
          <p:cNvPr id="76" name="Google Shape;76;p16"/>
          <p:cNvSpPr txBox="1"/>
          <p:nvPr/>
        </p:nvSpPr>
        <p:spPr>
          <a:xfrm>
            <a:off x="282900" y="3256900"/>
            <a:ext cx="8578500" cy="1569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zh-TW" sz="1000">
                <a:solidFill>
                  <a:schemeClr val="dk1"/>
                </a:solidFill>
                <a:latin typeface="Comic Sans MS"/>
                <a:ea typeface="Comic Sans MS"/>
                <a:cs typeface="Comic Sans MS"/>
                <a:sym typeface="Comic Sans MS"/>
              </a:rPr>
              <a:t>[1] D. M. Manias, A. Chouman and A. Shami, "Towards Intent-Based Network Management: Large Language Models for Intent Extraction in 5G Core Networks," 2024 20th International Conference on the Design of Reliable Communication Networks (DRCN), Montreal, QC, Canada, 2024, pp. 1-6</a:t>
            </a:r>
            <a:endParaRPr sz="1000">
              <a:solidFill>
                <a:schemeClr val="dk1"/>
              </a:solidFill>
              <a:latin typeface="Comic Sans MS"/>
              <a:ea typeface="Comic Sans MS"/>
              <a:cs typeface="Comic Sans MS"/>
              <a:sym typeface="Comic Sans MS"/>
            </a:endParaRPr>
          </a:p>
          <a:p>
            <a:pPr indent="0" lvl="0" marL="0" rtl="0" algn="just">
              <a:spcBef>
                <a:spcPts val="0"/>
              </a:spcBef>
              <a:spcAft>
                <a:spcPts val="0"/>
              </a:spcAft>
              <a:buNone/>
            </a:pPr>
            <a:r>
              <a:t/>
            </a:r>
            <a:endParaRPr sz="1000">
              <a:solidFill>
                <a:schemeClr val="dk1"/>
              </a:solidFill>
              <a:latin typeface="Comic Sans MS"/>
              <a:ea typeface="Comic Sans MS"/>
              <a:cs typeface="Comic Sans MS"/>
              <a:sym typeface="Comic Sans MS"/>
            </a:endParaRPr>
          </a:p>
          <a:p>
            <a:pPr indent="0" lvl="0" marL="0" rtl="0" algn="just">
              <a:spcBef>
                <a:spcPts val="0"/>
              </a:spcBef>
              <a:spcAft>
                <a:spcPts val="0"/>
              </a:spcAft>
              <a:buClr>
                <a:schemeClr val="dk1"/>
              </a:buClr>
              <a:buSzPts val="1100"/>
              <a:buFont typeface="Arial"/>
              <a:buNone/>
            </a:pPr>
            <a:r>
              <a:rPr lang="zh-TW" sz="1000">
                <a:solidFill>
                  <a:schemeClr val="dk1"/>
                </a:solidFill>
                <a:latin typeface="Comic Sans MS"/>
                <a:ea typeface="Comic Sans MS"/>
                <a:cs typeface="Comic Sans MS"/>
                <a:sym typeface="Comic Sans MS"/>
              </a:rPr>
              <a:t>[2] A. Mekrache and A. Ksentini, "LLM-enabled Intent-driven Service Configuration for Next Generation Networks," 2024 IEEE 10th International Conference on Network Softwarization (NetSoft), Saint Louis, MO, USA, 2024, pp. 253-257</a:t>
            </a:r>
            <a:endParaRPr sz="1000">
              <a:solidFill>
                <a:schemeClr val="dk1"/>
              </a:solidFill>
              <a:latin typeface="Comic Sans MS"/>
              <a:ea typeface="Comic Sans MS"/>
              <a:cs typeface="Comic Sans MS"/>
              <a:sym typeface="Comic Sans MS"/>
            </a:endParaRPr>
          </a:p>
          <a:p>
            <a:pPr indent="0" lvl="0" marL="0" rtl="0" algn="just">
              <a:spcBef>
                <a:spcPts val="0"/>
              </a:spcBef>
              <a:spcAft>
                <a:spcPts val="0"/>
              </a:spcAft>
              <a:buClr>
                <a:schemeClr val="dk1"/>
              </a:buClr>
              <a:buSzPts val="1100"/>
              <a:buFont typeface="Arial"/>
              <a:buNone/>
            </a:pPr>
            <a:r>
              <a:t/>
            </a:r>
            <a:endParaRPr sz="1000">
              <a:solidFill>
                <a:schemeClr val="dk1"/>
              </a:solidFill>
              <a:latin typeface="Comic Sans MS"/>
              <a:ea typeface="Comic Sans MS"/>
              <a:cs typeface="Comic Sans MS"/>
              <a:sym typeface="Comic Sans MS"/>
            </a:endParaRPr>
          </a:p>
          <a:p>
            <a:pPr indent="0" lvl="0" marL="0" rtl="0" algn="just">
              <a:spcBef>
                <a:spcPts val="0"/>
              </a:spcBef>
              <a:spcAft>
                <a:spcPts val="0"/>
              </a:spcAft>
              <a:buClr>
                <a:schemeClr val="dk1"/>
              </a:buClr>
              <a:buSzPts val="1100"/>
              <a:buFont typeface="Arial"/>
              <a:buNone/>
            </a:pPr>
            <a:r>
              <a:rPr lang="zh-TW" sz="1000">
                <a:solidFill>
                  <a:schemeClr val="dk1"/>
                </a:solidFill>
                <a:latin typeface="Comic Sans MS"/>
                <a:ea typeface="Comic Sans MS"/>
                <a:cs typeface="Comic Sans MS"/>
                <a:sym typeface="Comic Sans MS"/>
              </a:rPr>
              <a:t>[3] Y. Beining, S. Alassane, F. Guillaume and C. Sihem, "Generating Commit Messages for Configuration Files in 5G Network Deployment Using LLMs," 2024 20th International Conference on Network and Service Management (CNSM), Prague, Czech Republic, 2024, pp. 1-7</a:t>
            </a:r>
            <a:endParaRPr sz="1000">
              <a:solidFill>
                <a:schemeClr val="dk1"/>
              </a:solidFill>
              <a:latin typeface="Comic Sans MS"/>
              <a:ea typeface="Comic Sans MS"/>
              <a:cs typeface="Comic Sans MS"/>
              <a:sym typeface="Comic Sans MS"/>
            </a:endParaRPr>
          </a:p>
        </p:txBody>
      </p:sp>
      <p:graphicFrame>
        <p:nvGraphicFramePr>
          <p:cNvPr id="77" name="Google Shape;77;p16"/>
          <p:cNvGraphicFramePr/>
          <p:nvPr/>
        </p:nvGraphicFramePr>
        <p:xfrm>
          <a:off x="282813" y="806525"/>
          <a:ext cx="3000000" cy="3000000"/>
        </p:xfrm>
        <a:graphic>
          <a:graphicData uri="http://schemas.openxmlformats.org/drawingml/2006/table">
            <a:tbl>
              <a:tblPr>
                <a:noFill/>
                <a:tableStyleId>{E152A0E9-F04C-4503-8BFE-9D92DF60B9FD}</a:tableStyleId>
              </a:tblPr>
              <a:tblGrid>
                <a:gridCol w="1715675"/>
                <a:gridCol w="1715675"/>
                <a:gridCol w="3035125"/>
                <a:gridCol w="396225"/>
                <a:gridCol w="1715675"/>
              </a:tblGrid>
              <a:tr h="506125">
                <a:tc>
                  <a:txBody>
                    <a:bodyPr/>
                    <a:lstStyle/>
                    <a:p>
                      <a:pPr indent="0" lvl="0" marL="0" rtl="0" algn="ctr">
                        <a:spcBef>
                          <a:spcPts val="0"/>
                        </a:spcBef>
                        <a:spcAft>
                          <a:spcPts val="0"/>
                        </a:spcAft>
                        <a:buNone/>
                      </a:pPr>
                      <a:r>
                        <a:rPr lang="zh-TW">
                          <a:latin typeface="Comic Sans MS"/>
                          <a:ea typeface="Comic Sans MS"/>
                          <a:cs typeface="Comic Sans MS"/>
                          <a:sym typeface="Comic Sans MS"/>
                        </a:rPr>
                        <a:t>Paper</a:t>
                      </a:r>
                      <a:endParaRPr>
                        <a:latin typeface="Comic Sans MS"/>
                        <a:ea typeface="Comic Sans MS"/>
                        <a:cs typeface="Comic Sans MS"/>
                        <a:sym typeface="Comic Sans MS"/>
                      </a:endParaRPr>
                    </a:p>
                  </a:txBody>
                  <a:tcPr marT="91425" marB="91425" marR="91425" marL="91425">
                    <a:solidFill>
                      <a:srgbClr val="FFD966"/>
                    </a:solidFill>
                  </a:tcPr>
                </a:tc>
                <a:tc gridSpan="4">
                  <a:txBody>
                    <a:bodyPr/>
                    <a:lstStyle/>
                    <a:p>
                      <a:pPr indent="0" lvl="0" marL="0" rtl="0" algn="l">
                        <a:spcBef>
                          <a:spcPts val="0"/>
                        </a:spcBef>
                        <a:spcAft>
                          <a:spcPts val="0"/>
                        </a:spcAft>
                        <a:buNone/>
                      </a:pPr>
                      <a:r>
                        <a:rPr lang="zh-TW">
                          <a:latin typeface="Comic Sans MS"/>
                          <a:ea typeface="Comic Sans MS"/>
                          <a:cs typeface="Comic Sans MS"/>
                          <a:sym typeface="Comic Sans MS"/>
                        </a:rPr>
                        <a:t>Description</a:t>
                      </a:r>
                      <a:endParaRPr>
                        <a:latin typeface="Comic Sans MS"/>
                        <a:ea typeface="Comic Sans MS"/>
                        <a:cs typeface="Comic Sans MS"/>
                        <a:sym typeface="Comic Sans MS"/>
                      </a:endParaRPr>
                    </a:p>
                  </a:txBody>
                  <a:tcPr marT="91425" marB="91425" marR="91425" marL="91425">
                    <a:solidFill>
                      <a:srgbClr val="FFD966"/>
                    </a:solidFill>
                  </a:tcPr>
                </a:tc>
                <a:tc hMerge="1"/>
                <a:tc hMerge="1"/>
                <a:tc hMerge="1"/>
              </a:tr>
              <a:tr h="506125">
                <a:tc>
                  <a:txBody>
                    <a:bodyPr/>
                    <a:lstStyle/>
                    <a:p>
                      <a:pPr indent="0" lvl="0" marL="0" rtl="0" algn="ctr">
                        <a:spcBef>
                          <a:spcPts val="0"/>
                        </a:spcBef>
                        <a:spcAft>
                          <a:spcPts val="0"/>
                        </a:spcAft>
                        <a:buNone/>
                      </a:pPr>
                      <a:r>
                        <a:rPr lang="zh-TW">
                          <a:latin typeface="Comic Sans MS"/>
                          <a:ea typeface="Comic Sans MS"/>
                          <a:cs typeface="Comic Sans MS"/>
                          <a:sym typeface="Comic Sans MS"/>
                        </a:rPr>
                        <a:t>[1]</a:t>
                      </a:r>
                      <a:endParaRPr>
                        <a:latin typeface="Comic Sans MS"/>
                        <a:ea typeface="Comic Sans MS"/>
                        <a:cs typeface="Comic Sans MS"/>
                        <a:sym typeface="Comic Sans MS"/>
                      </a:endParaRPr>
                    </a:p>
                  </a:txBody>
                  <a:tcPr marT="91425" marB="91425" marR="91425" marL="91425"/>
                </a:tc>
                <a:tc gridSpan="4">
                  <a:txBody>
                    <a:bodyPr/>
                    <a:lstStyle/>
                    <a:p>
                      <a:pPr indent="-292100" lvl="0" marL="457200" rtl="0" algn="l">
                        <a:spcBef>
                          <a:spcPts val="0"/>
                        </a:spcBef>
                        <a:spcAft>
                          <a:spcPts val="0"/>
                        </a:spcAft>
                        <a:buSzPts val="1000"/>
                        <a:buFont typeface="Comic Sans MS"/>
                        <a:buAutoNum type="arabicPeriod"/>
                      </a:pPr>
                      <a:r>
                        <a:rPr lang="zh-TW" sz="1000">
                          <a:latin typeface="Comic Sans MS"/>
                          <a:ea typeface="Comic Sans MS"/>
                          <a:cs typeface="Comic Sans MS"/>
                          <a:sym typeface="Comic Sans MS"/>
                        </a:rPr>
                        <a:t>Prepares extracted intents for transformation into actionable network policies (e.g., JSON requests)</a:t>
                      </a:r>
                      <a:endParaRPr sz="1000">
                        <a:latin typeface="Comic Sans MS"/>
                        <a:ea typeface="Comic Sans MS"/>
                        <a:cs typeface="Comic Sans MS"/>
                        <a:sym typeface="Comic Sans MS"/>
                      </a:endParaRPr>
                    </a:p>
                    <a:p>
                      <a:pPr indent="-292100" lvl="0" marL="457200" rtl="0" algn="l">
                        <a:spcBef>
                          <a:spcPts val="0"/>
                        </a:spcBef>
                        <a:spcAft>
                          <a:spcPts val="0"/>
                        </a:spcAft>
                        <a:buSzPts val="1000"/>
                        <a:buFont typeface="Comic Sans MS"/>
                        <a:buAutoNum type="arabicPeriod"/>
                      </a:pPr>
                      <a:r>
                        <a:rPr lang="zh-TW" sz="1000">
                          <a:latin typeface="Comic Sans MS"/>
                          <a:ea typeface="Comic Sans MS"/>
                          <a:cs typeface="Comic Sans MS"/>
                          <a:sym typeface="Comic Sans MS"/>
                        </a:rPr>
                        <a:t>Identifies multiple intents in a single user request and separates them with explanations</a:t>
                      </a:r>
                      <a:endParaRPr sz="1000">
                        <a:latin typeface="Comic Sans MS"/>
                        <a:ea typeface="Comic Sans MS"/>
                        <a:cs typeface="Comic Sans MS"/>
                        <a:sym typeface="Comic Sans MS"/>
                      </a:endParaRPr>
                    </a:p>
                  </a:txBody>
                  <a:tcPr marT="91425" marB="91425" marR="91425" marL="91425"/>
                </a:tc>
                <a:tc hMerge="1"/>
                <a:tc hMerge="1"/>
                <a:tc hMerge="1"/>
              </a:tr>
              <a:tr h="506125">
                <a:tc>
                  <a:txBody>
                    <a:bodyPr/>
                    <a:lstStyle/>
                    <a:p>
                      <a:pPr indent="0" lvl="0" marL="0" rtl="0" algn="ctr">
                        <a:spcBef>
                          <a:spcPts val="0"/>
                        </a:spcBef>
                        <a:spcAft>
                          <a:spcPts val="0"/>
                        </a:spcAft>
                        <a:buNone/>
                      </a:pPr>
                      <a:r>
                        <a:rPr lang="zh-TW">
                          <a:latin typeface="Comic Sans MS"/>
                          <a:ea typeface="Comic Sans MS"/>
                          <a:cs typeface="Comic Sans MS"/>
                          <a:sym typeface="Comic Sans MS"/>
                        </a:rPr>
                        <a:t>[2]</a:t>
                      </a:r>
                      <a:endParaRPr>
                        <a:latin typeface="Comic Sans MS"/>
                        <a:ea typeface="Comic Sans MS"/>
                        <a:cs typeface="Comic Sans MS"/>
                        <a:sym typeface="Comic Sans MS"/>
                      </a:endParaRPr>
                    </a:p>
                  </a:txBody>
                  <a:tcPr marT="91425" marB="91425" marR="91425" marL="91425"/>
                </a:tc>
                <a:tc gridSpan="4">
                  <a:txBody>
                    <a:bodyPr/>
                    <a:lstStyle/>
                    <a:p>
                      <a:pPr indent="-292100" lvl="0" marL="457200" rtl="0" algn="l">
                        <a:spcBef>
                          <a:spcPts val="0"/>
                        </a:spcBef>
                        <a:spcAft>
                          <a:spcPts val="0"/>
                        </a:spcAft>
                        <a:buSzPts val="1000"/>
                        <a:buFont typeface="Comic Sans MS"/>
                        <a:buAutoNum type="arabicPeriod"/>
                      </a:pPr>
                      <a:r>
                        <a:rPr lang="zh-TW" sz="1000">
                          <a:latin typeface="Comic Sans MS"/>
                          <a:ea typeface="Comic Sans MS"/>
                          <a:cs typeface="Comic Sans MS"/>
                          <a:sym typeface="Comic Sans MS"/>
                        </a:rPr>
                        <a:t>Uses semantic similarity retrieval (sentence transformer) to improve context matching</a:t>
                      </a:r>
                      <a:endParaRPr sz="1000">
                        <a:latin typeface="Comic Sans MS"/>
                        <a:ea typeface="Comic Sans MS"/>
                        <a:cs typeface="Comic Sans MS"/>
                        <a:sym typeface="Comic Sans MS"/>
                      </a:endParaRPr>
                    </a:p>
                    <a:p>
                      <a:pPr indent="-292100" lvl="0" marL="457200" rtl="0" algn="l">
                        <a:spcBef>
                          <a:spcPts val="0"/>
                        </a:spcBef>
                        <a:spcAft>
                          <a:spcPts val="0"/>
                        </a:spcAft>
                        <a:buSzPts val="1000"/>
                        <a:buFont typeface="Comic Sans MS"/>
                        <a:buAutoNum type="arabicPeriod"/>
                      </a:pPr>
                      <a:r>
                        <a:rPr lang="zh-TW" sz="1000">
                          <a:latin typeface="Comic Sans MS"/>
                          <a:ea typeface="Comic Sans MS"/>
                          <a:cs typeface="Comic Sans MS"/>
                          <a:sym typeface="Comic Sans MS"/>
                        </a:rPr>
                        <a:t>Addresses complexity, parameter errors, and high entry barriers in 5G IBN configuration</a:t>
                      </a:r>
                      <a:endParaRPr sz="1000">
                        <a:latin typeface="Comic Sans MS"/>
                        <a:ea typeface="Comic Sans MS"/>
                        <a:cs typeface="Comic Sans MS"/>
                        <a:sym typeface="Comic Sans MS"/>
                      </a:endParaRPr>
                    </a:p>
                  </a:txBody>
                  <a:tcPr marT="91425" marB="91425" marR="91425" marL="91425"/>
                </a:tc>
                <a:tc hMerge="1"/>
                <a:tc hMerge="1"/>
                <a:tc hMerge="1"/>
              </a:tr>
              <a:tr h="506125">
                <a:tc>
                  <a:txBody>
                    <a:bodyPr/>
                    <a:lstStyle/>
                    <a:p>
                      <a:pPr indent="0" lvl="0" marL="0" rtl="0" algn="ctr">
                        <a:spcBef>
                          <a:spcPts val="0"/>
                        </a:spcBef>
                        <a:spcAft>
                          <a:spcPts val="0"/>
                        </a:spcAft>
                        <a:buNone/>
                      </a:pPr>
                      <a:r>
                        <a:rPr lang="zh-TW">
                          <a:latin typeface="Comic Sans MS"/>
                          <a:ea typeface="Comic Sans MS"/>
                          <a:cs typeface="Comic Sans MS"/>
                          <a:sym typeface="Comic Sans MS"/>
                        </a:rPr>
                        <a:t>[3]</a:t>
                      </a:r>
                      <a:endParaRPr>
                        <a:latin typeface="Comic Sans MS"/>
                        <a:ea typeface="Comic Sans MS"/>
                        <a:cs typeface="Comic Sans MS"/>
                        <a:sym typeface="Comic Sans MS"/>
                      </a:endParaRPr>
                    </a:p>
                  </a:txBody>
                  <a:tcPr marT="91425" marB="91425" marR="91425" marL="91425"/>
                </a:tc>
                <a:tc gridSpan="4">
                  <a:txBody>
                    <a:bodyPr/>
                    <a:lstStyle/>
                    <a:p>
                      <a:pPr indent="0" lvl="0" marL="0" rtl="0" algn="l">
                        <a:spcBef>
                          <a:spcPts val="0"/>
                        </a:spcBef>
                        <a:spcAft>
                          <a:spcPts val="0"/>
                        </a:spcAft>
                        <a:buNone/>
                      </a:pPr>
                      <a:r>
                        <a:t/>
                      </a:r>
                      <a:endParaRPr>
                        <a:latin typeface="Comic Sans MS"/>
                        <a:ea typeface="Comic Sans MS"/>
                        <a:cs typeface="Comic Sans MS"/>
                        <a:sym typeface="Comic Sans MS"/>
                      </a:endParaRPr>
                    </a:p>
                  </a:txBody>
                  <a:tcPr marT="91425" marB="91425" marR="91425" marL="91425"/>
                </a:tc>
                <a:tc hMerge="1"/>
                <a:tc hMerge="1"/>
                <a:tc hMerge="1"/>
              </a:tr>
            </a:tbl>
          </a:graphicData>
        </a:graphic>
      </p:graphicFrame>
      <p:sp>
        <p:nvSpPr>
          <p:cNvPr id="78" name="Google Shape;78;p16"/>
          <p:cNvSpPr txBox="1"/>
          <p:nvPr/>
        </p:nvSpPr>
        <p:spPr>
          <a:xfrm>
            <a:off x="3623250" y="2954238"/>
            <a:ext cx="18975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sz="1000">
                <a:solidFill>
                  <a:srgbClr val="000000"/>
                </a:solidFill>
                <a:latin typeface="Comic Sans MS"/>
                <a:ea typeface="Comic Sans MS"/>
                <a:cs typeface="Comic Sans MS"/>
                <a:sym typeface="Comic Sans MS"/>
              </a:rPr>
              <a:t>Tab 1: Related Work</a:t>
            </a:r>
            <a:endParaRPr sz="1000">
              <a:solidFill>
                <a:srgbClr val="000000"/>
              </a:solidFill>
              <a:latin typeface="Comic Sans MS"/>
              <a:ea typeface="Comic Sans MS"/>
              <a:cs typeface="Comic Sans MS"/>
              <a:sym typeface="Comic Sans MS"/>
            </a:endParaRPr>
          </a:p>
        </p:txBody>
      </p:sp>
      <p:sp>
        <p:nvSpPr>
          <p:cNvPr id="79" name="Google Shape;79;p16"/>
          <p:cNvSpPr txBox="1"/>
          <p:nvPr/>
        </p:nvSpPr>
        <p:spPr>
          <a:xfrm>
            <a:off x="473875" y="5494600"/>
            <a:ext cx="76053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000">
                <a:solidFill>
                  <a:srgbClr val="000000"/>
                </a:solidFill>
                <a:latin typeface="Comic Sans MS"/>
                <a:ea typeface="Comic Sans MS"/>
                <a:cs typeface="Comic Sans MS"/>
                <a:sym typeface="Comic Sans MS"/>
              </a:rPr>
              <a:t>[1] R. Ferrús, "Machine learning-assisted cross-slice radio resource optimization: Implementation framework and algorithmic solution," ITU Journal on Future and Evolving Technologies, vol. 1, no. 1, pp. 1-18, Dec. 2020</a:t>
            </a:r>
            <a:endParaRPr sz="1000">
              <a:solidFill>
                <a:srgbClr val="000000"/>
              </a:solidFill>
              <a:latin typeface="Comic Sans MS"/>
              <a:ea typeface="Comic Sans MS"/>
              <a:cs typeface="Comic Sans MS"/>
              <a:sym typeface="Comic Sans MS"/>
            </a:endParaRPr>
          </a:p>
          <a:p>
            <a:pPr indent="0" lvl="0" marL="0" rtl="0" algn="l">
              <a:spcBef>
                <a:spcPts val="0"/>
              </a:spcBef>
              <a:spcAft>
                <a:spcPts val="0"/>
              </a:spcAft>
              <a:buNone/>
            </a:pPr>
            <a:r>
              <a:t/>
            </a:r>
            <a:endParaRPr sz="1000">
              <a:solidFill>
                <a:srgbClr val="000000"/>
              </a:solidFill>
              <a:latin typeface="Comic Sans MS"/>
              <a:ea typeface="Comic Sans MS"/>
              <a:cs typeface="Comic Sans MS"/>
              <a:sym typeface="Comic Sans MS"/>
            </a:endParaRPr>
          </a:p>
          <a:p>
            <a:pPr indent="0" lvl="0" marL="0" rtl="0" algn="l">
              <a:spcBef>
                <a:spcPts val="0"/>
              </a:spcBef>
              <a:spcAft>
                <a:spcPts val="0"/>
              </a:spcAft>
              <a:buClr>
                <a:srgbClr val="000000"/>
              </a:buClr>
              <a:buSzPts val="1100"/>
              <a:buFont typeface="Arial"/>
              <a:buNone/>
            </a:pPr>
            <a:r>
              <a:rPr lang="zh-TW" sz="1000">
                <a:solidFill>
                  <a:srgbClr val="000000"/>
                </a:solidFill>
                <a:latin typeface="Comic Sans MS"/>
                <a:ea typeface="Comic Sans MS"/>
                <a:cs typeface="Comic Sans MS"/>
                <a:sym typeface="Comic Sans MS"/>
              </a:rPr>
              <a:t>[2] V. Sciancalepore, X. Costa-Perez, and A. Banchs, “Rl-nsb: Reinforcement learning-based 5g network slice broker,” IEEE/ACM Transactions on Networking, vol. 27, no. 4, pp. 1543–1557, 2019.</a:t>
            </a:r>
            <a:endParaRPr sz="1000">
              <a:solidFill>
                <a:srgbClr val="000000"/>
              </a:solidFill>
              <a:latin typeface="Comic Sans MS"/>
              <a:ea typeface="Comic Sans MS"/>
              <a:cs typeface="Comic Sans MS"/>
              <a:sym typeface="Comic Sans MS"/>
            </a:endParaRPr>
          </a:p>
          <a:p>
            <a:pPr indent="0" lvl="0" marL="0" rtl="0" algn="l">
              <a:spcBef>
                <a:spcPts val="0"/>
              </a:spcBef>
              <a:spcAft>
                <a:spcPts val="0"/>
              </a:spcAft>
              <a:buClr>
                <a:srgbClr val="000000"/>
              </a:buClr>
              <a:buSzPts val="1100"/>
              <a:buFont typeface="Arial"/>
              <a:buNone/>
            </a:pPr>
            <a:r>
              <a:t/>
            </a:r>
            <a:endParaRPr sz="1000">
              <a:solidFill>
                <a:srgbClr val="000000"/>
              </a:solidFill>
              <a:latin typeface="Comic Sans MS"/>
              <a:ea typeface="Comic Sans MS"/>
              <a:cs typeface="Comic Sans MS"/>
              <a:sym typeface="Comic Sans MS"/>
            </a:endParaRPr>
          </a:p>
          <a:p>
            <a:pPr indent="0" lvl="0" marL="0" rtl="0" algn="l">
              <a:spcBef>
                <a:spcPts val="0"/>
              </a:spcBef>
              <a:spcAft>
                <a:spcPts val="0"/>
              </a:spcAft>
              <a:buClr>
                <a:srgbClr val="000000"/>
              </a:buClr>
              <a:buSzPts val="1100"/>
              <a:buFont typeface="Arial"/>
              <a:buNone/>
            </a:pPr>
            <a:r>
              <a:rPr lang="zh-TW" sz="1000">
                <a:solidFill>
                  <a:srgbClr val="000000"/>
                </a:solidFill>
                <a:latin typeface="Comic Sans MS"/>
                <a:ea typeface="Comic Sans MS"/>
                <a:cs typeface="Comic Sans MS"/>
                <a:sym typeface="Comic Sans MS"/>
              </a:rPr>
              <a:t>[3] G. Sun, K. Xiong, G. O. Boateng, G. Liu, and W. Jiang, “Resource slicing and customization in ran with dueling deep q-network,” Journal of Network and Computer Applications, vol. 157, p. 102573, 2020</a:t>
            </a:r>
            <a:endParaRPr sz="1000">
              <a:solidFill>
                <a:srgbClr val="000000"/>
              </a:solidFill>
              <a:latin typeface="Comic Sans MS"/>
              <a:ea typeface="Comic Sans MS"/>
              <a:cs typeface="Comic Sans MS"/>
              <a:sym typeface="Comic Sans M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nvSpPr>
        <p:spPr>
          <a:xfrm>
            <a:off x="324975" y="236900"/>
            <a:ext cx="53157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700">
                <a:latin typeface="Comic Sans MS"/>
                <a:ea typeface="Comic Sans MS"/>
                <a:cs typeface="Comic Sans MS"/>
                <a:sym typeface="Comic Sans MS"/>
              </a:rPr>
              <a:t>C/U-Plane Data Flow</a:t>
            </a:r>
            <a:endParaRPr sz="1700">
              <a:latin typeface="Comic Sans MS"/>
              <a:ea typeface="Comic Sans MS"/>
              <a:cs typeface="Comic Sans MS"/>
              <a:sym typeface="Comic Sans MS"/>
            </a:endParaRPr>
          </a:p>
          <a:p>
            <a:pPr indent="0" lvl="0" marL="0" rtl="0" algn="l">
              <a:spcBef>
                <a:spcPts val="0"/>
              </a:spcBef>
              <a:spcAft>
                <a:spcPts val="0"/>
              </a:spcAft>
              <a:buNone/>
            </a:pPr>
            <a:r>
              <a:t/>
            </a:r>
            <a:endParaRPr sz="1700">
              <a:latin typeface="Comic Sans MS"/>
              <a:ea typeface="Comic Sans MS"/>
              <a:cs typeface="Comic Sans MS"/>
              <a:sym typeface="Comic Sans MS"/>
            </a:endParaRPr>
          </a:p>
        </p:txBody>
      </p:sp>
      <p:pic>
        <p:nvPicPr>
          <p:cNvPr id="85" name="Google Shape;85;p17"/>
          <p:cNvPicPr preferRelativeResize="0"/>
          <p:nvPr/>
        </p:nvPicPr>
        <p:blipFill>
          <a:blip r:embed="rId3">
            <a:alphaModFix/>
          </a:blip>
          <a:stretch>
            <a:fillRect/>
          </a:stretch>
        </p:blipFill>
        <p:spPr>
          <a:xfrm>
            <a:off x="4572000" y="1087238"/>
            <a:ext cx="4403270" cy="3893801"/>
          </a:xfrm>
          <a:prstGeom prst="rect">
            <a:avLst/>
          </a:prstGeom>
          <a:noFill/>
          <a:ln>
            <a:noFill/>
          </a:ln>
        </p:spPr>
      </p:pic>
      <p:pic>
        <p:nvPicPr>
          <p:cNvPr id="86" name="Google Shape;86;p17"/>
          <p:cNvPicPr preferRelativeResize="0"/>
          <p:nvPr/>
        </p:nvPicPr>
        <p:blipFill>
          <a:blip r:embed="rId4">
            <a:alphaModFix/>
          </a:blip>
          <a:stretch>
            <a:fillRect/>
          </a:stretch>
        </p:blipFill>
        <p:spPr>
          <a:xfrm>
            <a:off x="118725" y="1087249"/>
            <a:ext cx="4283524" cy="37418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nvSpPr>
        <p:spPr>
          <a:xfrm>
            <a:off x="324975" y="236900"/>
            <a:ext cx="5315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700">
                <a:latin typeface="Comic Sans MS"/>
                <a:ea typeface="Comic Sans MS"/>
                <a:cs typeface="Comic Sans MS"/>
                <a:sym typeface="Comic Sans MS"/>
              </a:rPr>
              <a:t>5G End to end procedure</a:t>
            </a:r>
            <a:endParaRPr sz="1700">
              <a:latin typeface="Comic Sans MS"/>
              <a:ea typeface="Comic Sans MS"/>
              <a:cs typeface="Comic Sans MS"/>
              <a:sym typeface="Comic Sans M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nvSpPr>
        <p:spPr>
          <a:xfrm>
            <a:off x="324975" y="236900"/>
            <a:ext cx="5315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700">
                <a:latin typeface="Comic Sans MS"/>
                <a:ea typeface="Comic Sans MS"/>
                <a:cs typeface="Comic Sans MS"/>
                <a:sym typeface="Comic Sans MS"/>
              </a:rPr>
              <a:t>Performance matrix</a:t>
            </a:r>
            <a:endParaRPr sz="1700">
              <a:latin typeface="Comic Sans MS"/>
              <a:ea typeface="Comic Sans MS"/>
              <a:cs typeface="Comic Sans MS"/>
              <a:sym typeface="Comic Sans M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ctrTitle"/>
          </p:nvPr>
        </p:nvSpPr>
        <p:spPr>
          <a:xfrm>
            <a:off x="311708" y="8207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latin typeface="Comic Sans MS"/>
              <a:ea typeface="Comic Sans MS"/>
              <a:cs typeface="Comic Sans MS"/>
              <a:sym typeface="Comic Sans MS"/>
            </a:endParaRPr>
          </a:p>
          <a:p>
            <a:pPr indent="0" lvl="0" marL="0" rtl="0" algn="ctr">
              <a:spcBef>
                <a:spcPts val="0"/>
              </a:spcBef>
              <a:spcAft>
                <a:spcPts val="0"/>
              </a:spcAft>
              <a:buNone/>
            </a:pPr>
            <a:r>
              <a:t/>
            </a:r>
            <a:endParaRPr sz="1266">
              <a:latin typeface="Comic Sans MS"/>
              <a:ea typeface="Comic Sans MS"/>
              <a:cs typeface="Comic Sans MS"/>
              <a:sym typeface="Comic Sans MS"/>
            </a:endParaRPr>
          </a:p>
          <a:p>
            <a:pPr indent="0" lvl="0" marL="0" rtl="0" algn="ctr">
              <a:spcBef>
                <a:spcPts val="0"/>
              </a:spcBef>
              <a:spcAft>
                <a:spcPts val="0"/>
              </a:spcAft>
              <a:buNone/>
            </a:pPr>
            <a:r>
              <a:rPr lang="zh-TW" sz="2433">
                <a:latin typeface="Comic Sans MS"/>
                <a:ea typeface="Comic Sans MS"/>
                <a:cs typeface="Comic Sans MS"/>
                <a:sym typeface="Comic Sans MS"/>
              </a:rPr>
              <a:t>System Architecture</a:t>
            </a:r>
            <a:endParaRPr sz="2433">
              <a:latin typeface="Comic Sans MS"/>
              <a:ea typeface="Comic Sans MS"/>
              <a:cs typeface="Comic Sans MS"/>
              <a:sym typeface="Comic Sans M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07" name="Google Shape;107;p2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type="ctrTitle"/>
          </p:nvPr>
        </p:nvSpPr>
        <p:spPr>
          <a:xfrm>
            <a:off x="311708" y="8207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latin typeface="Comic Sans MS"/>
              <a:ea typeface="Comic Sans MS"/>
              <a:cs typeface="Comic Sans MS"/>
              <a:sym typeface="Comic Sans MS"/>
            </a:endParaRPr>
          </a:p>
          <a:p>
            <a:pPr indent="0" lvl="0" marL="0" rtl="0" algn="ctr">
              <a:spcBef>
                <a:spcPts val="0"/>
              </a:spcBef>
              <a:spcAft>
                <a:spcPts val="0"/>
              </a:spcAft>
              <a:buNone/>
            </a:pPr>
            <a:r>
              <a:t/>
            </a:r>
            <a:endParaRPr sz="1266">
              <a:latin typeface="Comic Sans MS"/>
              <a:ea typeface="Comic Sans MS"/>
              <a:cs typeface="Comic Sans MS"/>
              <a:sym typeface="Comic Sans MS"/>
            </a:endParaRPr>
          </a:p>
          <a:p>
            <a:pPr indent="0" lvl="0" marL="0" rtl="0" algn="ctr">
              <a:spcBef>
                <a:spcPts val="0"/>
              </a:spcBef>
              <a:spcAft>
                <a:spcPts val="0"/>
              </a:spcAft>
              <a:buNone/>
            </a:pPr>
            <a:r>
              <a:rPr lang="zh-TW" sz="2433">
                <a:latin typeface="Comic Sans MS"/>
                <a:ea typeface="Comic Sans MS"/>
                <a:cs typeface="Comic Sans MS"/>
                <a:sym typeface="Comic Sans MS"/>
              </a:rPr>
              <a:t>Experimental Results</a:t>
            </a:r>
            <a:endParaRPr sz="2433">
              <a:latin typeface="Comic Sans MS"/>
              <a:ea typeface="Comic Sans MS"/>
              <a:cs typeface="Comic Sans MS"/>
              <a:sym typeface="Comic Sans M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p23"/>
          <p:cNvPicPr preferRelativeResize="0"/>
          <p:nvPr/>
        </p:nvPicPr>
        <p:blipFill>
          <a:blip r:embed="rId3">
            <a:alphaModFix/>
          </a:blip>
          <a:stretch>
            <a:fillRect/>
          </a:stretch>
        </p:blipFill>
        <p:spPr>
          <a:xfrm>
            <a:off x="779225" y="972575"/>
            <a:ext cx="7585546" cy="4033525"/>
          </a:xfrm>
          <a:prstGeom prst="rect">
            <a:avLst/>
          </a:prstGeom>
          <a:noFill/>
          <a:ln>
            <a:noFill/>
          </a:ln>
        </p:spPr>
      </p:pic>
      <p:sp>
        <p:nvSpPr>
          <p:cNvPr id="118" name="Google Shape;118;p23"/>
          <p:cNvSpPr txBox="1"/>
          <p:nvPr/>
        </p:nvSpPr>
        <p:spPr>
          <a:xfrm>
            <a:off x="324975" y="236900"/>
            <a:ext cx="5315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700">
                <a:latin typeface="Comic Sans MS"/>
                <a:ea typeface="Comic Sans MS"/>
                <a:cs typeface="Comic Sans MS"/>
                <a:sym typeface="Comic Sans MS"/>
              </a:rPr>
              <a:t>Testing Environment </a:t>
            </a:r>
            <a:endParaRPr sz="1700">
              <a:latin typeface="Comic Sans MS"/>
              <a:ea typeface="Comic Sans MS"/>
              <a:cs typeface="Comic Sans MS"/>
              <a:sym typeface="Comic Sans M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nvSpPr>
        <p:spPr>
          <a:xfrm>
            <a:off x="0" y="252150"/>
            <a:ext cx="3773400" cy="46392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b="1" lang="zh-TW"/>
              <a:t>Dataset Generation Process:</a:t>
            </a:r>
            <a:endParaRPr b="1"/>
          </a:p>
          <a:p>
            <a:pPr indent="-317500" lvl="0" marL="457200" rtl="0" algn="just">
              <a:lnSpc>
                <a:spcPct val="115000"/>
              </a:lnSpc>
              <a:spcBef>
                <a:spcPts val="1200"/>
              </a:spcBef>
              <a:spcAft>
                <a:spcPts val="0"/>
              </a:spcAft>
              <a:buSzPts val="1400"/>
              <a:buAutoNum type="arabicPeriod"/>
            </a:pPr>
            <a:r>
              <a:rPr lang="zh-TW"/>
              <a:t>Generate multiple .conf configuration files using an automated generator and run them in a real or simulated RAN environment.</a:t>
            </a:r>
            <a:endParaRPr/>
          </a:p>
          <a:p>
            <a:pPr indent="0" lvl="0" marL="457200" rtl="0" algn="just">
              <a:lnSpc>
                <a:spcPct val="115000"/>
              </a:lnSpc>
              <a:spcBef>
                <a:spcPts val="1200"/>
              </a:spcBef>
              <a:spcAft>
                <a:spcPts val="0"/>
              </a:spcAft>
              <a:buNone/>
            </a:pPr>
            <a:r>
              <a:t/>
            </a:r>
            <a:endParaRPr/>
          </a:p>
          <a:p>
            <a:pPr indent="-317500" lvl="0" marL="457200" rtl="0" algn="just">
              <a:lnSpc>
                <a:spcPct val="115000"/>
              </a:lnSpc>
              <a:spcBef>
                <a:spcPts val="1200"/>
              </a:spcBef>
              <a:spcAft>
                <a:spcPts val="0"/>
              </a:spcAft>
              <a:buSzPts val="1400"/>
              <a:buAutoNum type="arabicPeriod"/>
            </a:pPr>
            <a:r>
              <a:rPr lang="zh-TW"/>
              <a:t>After execution, record the logs and error messages returned by the system.</a:t>
            </a:r>
            <a:endParaRPr/>
          </a:p>
          <a:p>
            <a:pPr indent="0" lvl="0" marL="457200" rtl="0" algn="just">
              <a:lnSpc>
                <a:spcPct val="115000"/>
              </a:lnSpc>
              <a:spcBef>
                <a:spcPts val="1200"/>
              </a:spcBef>
              <a:spcAft>
                <a:spcPts val="0"/>
              </a:spcAft>
              <a:buNone/>
            </a:pPr>
            <a:r>
              <a:t/>
            </a:r>
            <a:endParaRPr/>
          </a:p>
          <a:p>
            <a:pPr indent="-317500" lvl="0" marL="457200" rtl="0" algn="just">
              <a:lnSpc>
                <a:spcPct val="115000"/>
              </a:lnSpc>
              <a:spcBef>
                <a:spcPts val="1200"/>
              </a:spcBef>
              <a:spcAft>
                <a:spcPts val="0"/>
              </a:spcAft>
              <a:buSzPts val="1400"/>
              <a:buAutoNum type="arabicPeriod"/>
            </a:pPr>
            <a:r>
              <a:rPr lang="zh-TW"/>
              <a:t>Input the .conf files and corresponding logs into the debug analysis tool to automatically generate corresponding training samples (error type + corrected version).</a:t>
            </a:r>
            <a:endParaRPr/>
          </a:p>
        </p:txBody>
      </p:sp>
      <p:pic>
        <p:nvPicPr>
          <p:cNvPr id="124" name="Google Shape;124;p24"/>
          <p:cNvPicPr preferRelativeResize="0"/>
          <p:nvPr/>
        </p:nvPicPr>
        <p:blipFill>
          <a:blip r:embed="rId3">
            <a:alphaModFix/>
          </a:blip>
          <a:stretch>
            <a:fillRect/>
          </a:stretch>
        </p:blipFill>
        <p:spPr>
          <a:xfrm>
            <a:off x="4131675" y="0"/>
            <a:ext cx="5012325" cy="5143500"/>
          </a:xfrm>
          <a:prstGeom prst="rect">
            <a:avLst/>
          </a:prstGeom>
          <a:noFill/>
          <a:ln>
            <a:noFill/>
          </a:ln>
        </p:spPr>
      </p:pic>
      <p:sp>
        <p:nvSpPr>
          <p:cNvPr id="125" name="Google Shape;125;p24"/>
          <p:cNvSpPr/>
          <p:nvPr/>
        </p:nvSpPr>
        <p:spPr>
          <a:xfrm>
            <a:off x="4061400" y="49175"/>
            <a:ext cx="1595100" cy="20307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 name="Google Shape;126;p24"/>
          <p:cNvSpPr txBox="1"/>
          <p:nvPr/>
        </p:nvSpPr>
        <p:spPr>
          <a:xfrm>
            <a:off x="4131675" y="618350"/>
            <a:ext cx="5832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sz="1800">
                <a:solidFill>
                  <a:srgbClr val="FF0000"/>
                </a:solidFill>
              </a:rPr>
              <a:t>1</a:t>
            </a:r>
            <a:endParaRPr sz="1800">
              <a:solidFill>
                <a:srgbClr val="FF0000"/>
              </a:solidFill>
            </a:endParaRPr>
          </a:p>
        </p:txBody>
      </p:sp>
      <p:sp>
        <p:nvSpPr>
          <p:cNvPr id="127" name="Google Shape;127;p24"/>
          <p:cNvSpPr/>
          <p:nvPr/>
        </p:nvSpPr>
        <p:spPr>
          <a:xfrm>
            <a:off x="6258550" y="1313975"/>
            <a:ext cx="2885400" cy="7659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 name="Google Shape;128;p24"/>
          <p:cNvSpPr txBox="1"/>
          <p:nvPr/>
        </p:nvSpPr>
        <p:spPr>
          <a:xfrm>
            <a:off x="7409650" y="833675"/>
            <a:ext cx="5832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sz="1800">
                <a:solidFill>
                  <a:srgbClr val="FF0000"/>
                </a:solidFill>
              </a:rPr>
              <a:t>2</a:t>
            </a:r>
            <a:endParaRPr sz="1800">
              <a:solidFill>
                <a:srgbClr val="FF0000"/>
              </a:solidFill>
            </a:endParaRPr>
          </a:p>
        </p:txBody>
      </p:sp>
      <p:sp>
        <p:nvSpPr>
          <p:cNvPr id="129" name="Google Shape;129;p24"/>
          <p:cNvSpPr/>
          <p:nvPr/>
        </p:nvSpPr>
        <p:spPr>
          <a:xfrm>
            <a:off x="5898025" y="4377600"/>
            <a:ext cx="1269000" cy="7659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 name="Google Shape;130;p24"/>
          <p:cNvSpPr txBox="1"/>
          <p:nvPr/>
        </p:nvSpPr>
        <p:spPr>
          <a:xfrm>
            <a:off x="7167025" y="4377600"/>
            <a:ext cx="5832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sz="1800">
                <a:solidFill>
                  <a:srgbClr val="FF0000"/>
                </a:solidFill>
              </a:rPr>
              <a:t>3</a:t>
            </a:r>
            <a:endParaRPr sz="1800">
              <a:solidFill>
                <a:srgbClr val="FF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p25"/>
          <p:cNvPicPr preferRelativeResize="0"/>
          <p:nvPr/>
        </p:nvPicPr>
        <p:blipFill>
          <a:blip r:embed="rId3">
            <a:alphaModFix/>
          </a:blip>
          <a:stretch>
            <a:fillRect/>
          </a:stretch>
        </p:blipFill>
        <p:spPr>
          <a:xfrm>
            <a:off x="3799225" y="152400"/>
            <a:ext cx="5212130" cy="4838700"/>
          </a:xfrm>
          <a:prstGeom prst="rect">
            <a:avLst/>
          </a:prstGeom>
          <a:noFill/>
          <a:ln>
            <a:noFill/>
          </a:ln>
        </p:spPr>
      </p:pic>
      <p:sp>
        <p:nvSpPr>
          <p:cNvPr id="136" name="Google Shape;136;p25"/>
          <p:cNvSpPr/>
          <p:nvPr/>
        </p:nvSpPr>
        <p:spPr>
          <a:xfrm>
            <a:off x="5368350" y="1637200"/>
            <a:ext cx="1911300" cy="8643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endParaRPr>
          </a:p>
        </p:txBody>
      </p:sp>
      <p:sp>
        <p:nvSpPr>
          <p:cNvPr id="137" name="Google Shape;137;p25"/>
          <p:cNvSpPr txBox="1"/>
          <p:nvPr/>
        </p:nvSpPr>
        <p:spPr>
          <a:xfrm>
            <a:off x="105400" y="616950"/>
            <a:ext cx="3646800" cy="3909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zh-TW" sz="800">
                <a:solidFill>
                  <a:schemeClr val="dk1"/>
                </a:solidFill>
              </a:rPr>
              <a:t>1. Accuracy-1 (ACC1): Structural Correctness</a:t>
            </a:r>
            <a:endParaRPr b="1" sz="800">
              <a:solidFill>
                <a:schemeClr val="dk1"/>
              </a:solidFill>
            </a:endParaRPr>
          </a:p>
          <a:p>
            <a:pPr indent="-279400" lvl="0" marL="457200" rtl="0" algn="l">
              <a:lnSpc>
                <a:spcPct val="115000"/>
              </a:lnSpc>
              <a:spcBef>
                <a:spcPts val="1200"/>
              </a:spcBef>
              <a:spcAft>
                <a:spcPts val="0"/>
              </a:spcAft>
              <a:buClr>
                <a:schemeClr val="dk1"/>
              </a:buClr>
              <a:buSzPts val="800"/>
              <a:buChar char="●"/>
            </a:pPr>
            <a:r>
              <a:rPr lang="zh-TW" sz="800">
                <a:solidFill>
                  <a:schemeClr val="dk1"/>
                </a:solidFill>
              </a:rPr>
              <a:t>Definition: Whether the output configuration file follows a valid syntax structure (e.g., brackets, indentation, block ordering).</a:t>
            </a:r>
            <a:br>
              <a:rPr lang="zh-TW" sz="800">
                <a:solidFill>
                  <a:schemeClr val="dk1"/>
                </a:solidFill>
              </a:rPr>
            </a:b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lang="zh-TW" sz="800">
                <a:solidFill>
                  <a:schemeClr val="dk1"/>
                </a:solidFill>
              </a:rPr>
              <a:t>Goal: Assess the model’s ability to generate syntactically correct configuration files.</a:t>
            </a:r>
            <a:br>
              <a:rPr lang="zh-TW" sz="800">
                <a:solidFill>
                  <a:schemeClr val="dk1"/>
                </a:solidFill>
              </a:rPr>
            </a:br>
            <a:endParaRPr sz="800">
              <a:solidFill>
                <a:schemeClr val="dk1"/>
              </a:solidFill>
            </a:endParaRPr>
          </a:p>
          <a:p>
            <a:pPr indent="0" lvl="0" marL="0" rtl="0" algn="l">
              <a:lnSpc>
                <a:spcPct val="115000"/>
              </a:lnSpc>
              <a:spcBef>
                <a:spcPts val="1200"/>
              </a:spcBef>
              <a:spcAft>
                <a:spcPts val="0"/>
              </a:spcAft>
              <a:buNone/>
            </a:pPr>
            <a:r>
              <a:rPr b="1" lang="zh-TW" sz="800">
                <a:solidFill>
                  <a:schemeClr val="dk1"/>
                </a:solidFill>
              </a:rPr>
              <a:t>2. Accuracy-2 (ACC2): Parameter-Level Correctness</a:t>
            </a:r>
            <a:endParaRPr b="1" sz="800">
              <a:solidFill>
                <a:schemeClr val="dk1"/>
              </a:solidFill>
            </a:endParaRPr>
          </a:p>
          <a:p>
            <a:pPr indent="-279400" lvl="0" marL="457200" rtl="0" algn="l">
              <a:lnSpc>
                <a:spcPct val="115000"/>
              </a:lnSpc>
              <a:spcBef>
                <a:spcPts val="1200"/>
              </a:spcBef>
              <a:spcAft>
                <a:spcPts val="0"/>
              </a:spcAft>
              <a:buClr>
                <a:schemeClr val="dk1"/>
              </a:buClr>
              <a:buSzPts val="800"/>
              <a:buChar char="●"/>
            </a:pPr>
            <a:r>
              <a:rPr lang="zh-TW" sz="800">
                <a:solidFill>
                  <a:schemeClr val="dk1"/>
                </a:solidFill>
              </a:rPr>
              <a:t>Definition: Beyond syntax, whether the model generates correct key-value pairs and values in response to specific errors.</a:t>
            </a:r>
            <a:br>
              <a:rPr lang="zh-TW" sz="800">
                <a:solidFill>
                  <a:schemeClr val="dk1"/>
                </a:solidFill>
              </a:rPr>
            </a:b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lang="zh-TW" sz="800">
                <a:solidFill>
                  <a:schemeClr val="dk1"/>
                </a:solidFill>
              </a:rPr>
              <a:t>Goal: Measure the model's semantic understanding of configuration errors and its capability to generate valid corrections.</a:t>
            </a:r>
            <a:br>
              <a:rPr lang="zh-TW" sz="800">
                <a:solidFill>
                  <a:schemeClr val="dk1"/>
                </a:solidFill>
              </a:rPr>
            </a:br>
            <a:endParaRPr sz="800">
              <a:solidFill>
                <a:schemeClr val="dk1"/>
              </a:solidFill>
            </a:endParaRPr>
          </a:p>
          <a:p>
            <a:pPr indent="0" lvl="0" marL="0" rtl="0" algn="l">
              <a:lnSpc>
                <a:spcPct val="115000"/>
              </a:lnSpc>
              <a:spcBef>
                <a:spcPts val="1200"/>
              </a:spcBef>
              <a:spcAft>
                <a:spcPts val="0"/>
              </a:spcAft>
              <a:buNone/>
            </a:pPr>
            <a:r>
              <a:rPr b="1" lang="zh-TW" sz="800">
                <a:solidFill>
                  <a:schemeClr val="dk1"/>
                </a:solidFill>
              </a:rPr>
              <a:t>3. Model Reasoning Score (LLM-based Evaluation)</a:t>
            </a:r>
            <a:endParaRPr b="1" sz="800">
              <a:solidFill>
                <a:schemeClr val="dk1"/>
              </a:solidFill>
            </a:endParaRPr>
          </a:p>
          <a:p>
            <a:pPr indent="-279400" lvl="0" marL="457200" rtl="0" algn="l">
              <a:lnSpc>
                <a:spcPct val="115000"/>
              </a:lnSpc>
              <a:spcBef>
                <a:spcPts val="1200"/>
              </a:spcBef>
              <a:spcAft>
                <a:spcPts val="0"/>
              </a:spcAft>
              <a:buClr>
                <a:schemeClr val="dk1"/>
              </a:buClr>
              <a:buSzPts val="800"/>
              <a:buChar char="●"/>
            </a:pPr>
            <a:r>
              <a:rPr lang="zh-TW" sz="800">
                <a:solidFill>
                  <a:schemeClr val="dk1"/>
                </a:solidFill>
              </a:rPr>
              <a:t>Definition: Use a third-party LLM (e.g., GPT-4) to evaluate the reasoning quality of the model output.</a:t>
            </a:r>
            <a:br>
              <a:rPr lang="zh-TW" sz="800">
                <a:solidFill>
                  <a:schemeClr val="dk1"/>
                </a:solidFill>
              </a:rPr>
            </a:b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lang="zh-TW" sz="800">
                <a:solidFill>
                  <a:schemeClr val="dk1"/>
                </a:solidFill>
              </a:rPr>
              <a:t>Method: Feed the input config, error log, and model output to the evaluator LLM, which assigns a reasoning score (e.g., 1–5) and provides a brief justification.</a:t>
            </a:r>
            <a:endParaRPr sz="8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6"/>
          <p:cNvSpPr txBox="1"/>
          <p:nvPr/>
        </p:nvSpPr>
        <p:spPr>
          <a:xfrm>
            <a:off x="324975" y="236900"/>
            <a:ext cx="5315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700">
                <a:latin typeface="Comic Sans MS"/>
                <a:ea typeface="Comic Sans MS"/>
                <a:cs typeface="Comic Sans MS"/>
                <a:sym typeface="Comic Sans MS"/>
              </a:rPr>
              <a:t>Testing Limitation</a:t>
            </a:r>
            <a:endParaRPr sz="1700">
              <a:latin typeface="Comic Sans MS"/>
              <a:ea typeface="Comic Sans MS"/>
              <a:cs typeface="Comic Sans MS"/>
              <a:sym typeface="Comic Sans M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7"/>
          <p:cNvSpPr txBox="1"/>
          <p:nvPr/>
        </p:nvSpPr>
        <p:spPr>
          <a:xfrm>
            <a:off x="324975" y="236900"/>
            <a:ext cx="5315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700">
                <a:latin typeface="Comic Sans MS"/>
                <a:ea typeface="Comic Sans MS"/>
                <a:cs typeface="Comic Sans MS"/>
                <a:sym typeface="Comic Sans MS"/>
              </a:rPr>
              <a:t>Situation </a:t>
            </a:r>
            <a:endParaRPr sz="1700">
              <a:latin typeface="Comic Sans MS"/>
              <a:ea typeface="Comic Sans MS"/>
              <a:cs typeface="Comic Sans MS"/>
              <a:sym typeface="Comic Sans MS"/>
            </a:endParaRPr>
          </a:p>
        </p:txBody>
      </p:sp>
      <p:sp>
        <p:nvSpPr>
          <p:cNvPr id="148" name="Google Shape;148;p27"/>
          <p:cNvSpPr txBox="1"/>
          <p:nvPr/>
        </p:nvSpPr>
        <p:spPr>
          <a:xfrm>
            <a:off x="600600" y="856000"/>
            <a:ext cx="8543400" cy="21240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0"/>
              </a:spcAft>
              <a:buNone/>
            </a:pPr>
            <a:r>
              <a:rPr lang="zh-TW">
                <a:solidFill>
                  <a:schemeClr val="dk1"/>
                </a:solidFill>
                <a:latin typeface="Comic Sans MS"/>
                <a:ea typeface="Comic Sans MS"/>
                <a:cs typeface="Comic Sans MS"/>
                <a:sym typeface="Comic Sans MS"/>
              </a:rPr>
              <a:t>Situation 1: Evaluation of Model Size Impact within the Same LLM Family</a:t>
            </a:r>
            <a:endParaRPr>
              <a:solidFill>
                <a:schemeClr val="dk1"/>
              </a:solidFill>
              <a:latin typeface="Comic Sans MS"/>
              <a:ea typeface="Comic Sans MS"/>
              <a:cs typeface="Comic Sans MS"/>
              <a:sym typeface="Comic Sans MS"/>
            </a:endParaRPr>
          </a:p>
          <a:p>
            <a:pPr indent="0" lvl="0" marL="0" rtl="0" algn="l">
              <a:lnSpc>
                <a:spcPct val="200000"/>
              </a:lnSpc>
              <a:spcBef>
                <a:spcPts val="0"/>
              </a:spcBef>
              <a:spcAft>
                <a:spcPts val="0"/>
              </a:spcAft>
              <a:buNone/>
            </a:pPr>
            <a:r>
              <a:rPr lang="zh-TW">
                <a:solidFill>
                  <a:schemeClr val="dk1"/>
                </a:solidFill>
                <a:latin typeface="Comic Sans MS"/>
                <a:ea typeface="Comic Sans MS"/>
                <a:cs typeface="Comic Sans MS"/>
                <a:sym typeface="Comic Sans MS"/>
              </a:rPr>
              <a:t>Situation 2: Evaluation of RAG Performance Across LLMs with Similar Size</a:t>
            </a:r>
            <a:endParaRPr>
              <a:solidFill>
                <a:schemeClr val="dk1"/>
              </a:solidFill>
              <a:latin typeface="Comic Sans MS"/>
              <a:ea typeface="Comic Sans MS"/>
              <a:cs typeface="Comic Sans MS"/>
              <a:sym typeface="Comic Sans MS"/>
            </a:endParaRPr>
          </a:p>
          <a:p>
            <a:pPr indent="0" lvl="0" marL="0" rtl="0" algn="l">
              <a:lnSpc>
                <a:spcPct val="200000"/>
              </a:lnSpc>
              <a:spcBef>
                <a:spcPts val="0"/>
              </a:spcBef>
              <a:spcAft>
                <a:spcPts val="0"/>
              </a:spcAft>
              <a:buNone/>
            </a:pPr>
            <a:r>
              <a:rPr lang="zh-TW">
                <a:solidFill>
                  <a:schemeClr val="dk1"/>
                </a:solidFill>
                <a:latin typeface="Comic Sans MS"/>
                <a:ea typeface="Comic Sans MS"/>
                <a:cs typeface="Comic Sans MS"/>
                <a:sym typeface="Comic Sans MS"/>
              </a:rPr>
              <a:t>Situation 3: Evaluation of Semantic Augmentation in Small vs. Large LLMs</a:t>
            </a:r>
            <a:endParaRPr>
              <a:solidFill>
                <a:schemeClr val="dk1"/>
              </a:solidFill>
              <a:latin typeface="Comic Sans MS"/>
              <a:ea typeface="Comic Sans MS"/>
              <a:cs typeface="Comic Sans MS"/>
              <a:sym typeface="Comic Sans MS"/>
            </a:endParaRPr>
          </a:p>
          <a:p>
            <a:pPr indent="0" lvl="0" marL="0" rtl="0" algn="l">
              <a:lnSpc>
                <a:spcPct val="200000"/>
              </a:lnSpc>
              <a:spcBef>
                <a:spcPts val="0"/>
              </a:spcBef>
              <a:spcAft>
                <a:spcPts val="0"/>
              </a:spcAft>
              <a:buNone/>
            </a:pPr>
            <a:r>
              <a:rPr lang="zh-TW">
                <a:solidFill>
                  <a:schemeClr val="dk1"/>
                </a:solidFill>
                <a:latin typeface="Comic Sans MS"/>
                <a:ea typeface="Comic Sans MS"/>
                <a:cs typeface="Comic Sans MS"/>
                <a:sym typeface="Comic Sans MS"/>
              </a:rPr>
              <a:t>Situation 4: Evaluation of SFT, RAG, and Baseline LLMs on Configuration Error Explanation</a:t>
            </a:r>
            <a:endParaRPr>
              <a:solidFill>
                <a:schemeClr val="dk1"/>
              </a:solidFill>
              <a:latin typeface="Comic Sans MS"/>
              <a:ea typeface="Comic Sans MS"/>
              <a:cs typeface="Comic Sans MS"/>
              <a:sym typeface="Comic Sans MS"/>
            </a:endParaRPr>
          </a:p>
          <a:p>
            <a:pPr indent="0" lvl="0" marL="0" rtl="0" algn="l">
              <a:lnSpc>
                <a:spcPct val="200000"/>
              </a:lnSpc>
              <a:spcBef>
                <a:spcPts val="0"/>
              </a:spcBef>
              <a:spcAft>
                <a:spcPts val="0"/>
              </a:spcAft>
              <a:buClr>
                <a:schemeClr val="dk1"/>
              </a:buClr>
              <a:buSzPts val="1100"/>
              <a:buFont typeface="Arial"/>
              <a:buNone/>
            </a:pPr>
            <a:r>
              <a:rPr lang="zh-TW">
                <a:solidFill>
                  <a:schemeClr val="dk1"/>
                </a:solidFill>
                <a:latin typeface="Comic Sans MS"/>
                <a:ea typeface="Comic Sans MS"/>
                <a:cs typeface="Comic Sans MS"/>
                <a:sym typeface="Comic Sans MS"/>
              </a:rPr>
              <a:t>Situation 5: Log Duration Impact on Processing Time</a:t>
            </a:r>
            <a:endParaRPr>
              <a:solidFill>
                <a:schemeClr val="dk1"/>
              </a:solidFill>
              <a:latin typeface="Comic Sans MS"/>
              <a:ea typeface="Comic Sans MS"/>
              <a:cs typeface="Comic Sans MS"/>
              <a:sym typeface="Comic Sans MS"/>
            </a:endParaRPr>
          </a:p>
        </p:txBody>
      </p:sp>
      <p:sp>
        <p:nvSpPr>
          <p:cNvPr id="149" name="Google Shape;149;p27"/>
          <p:cNvSpPr txBox="1"/>
          <p:nvPr/>
        </p:nvSpPr>
        <p:spPr>
          <a:xfrm>
            <a:off x="600600" y="3244250"/>
            <a:ext cx="50838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100">
                <a:solidFill>
                  <a:schemeClr val="dk2"/>
                </a:solidFill>
              </a:rPr>
              <a:t>Prompt templates reference &amp; scoring method:</a:t>
            </a:r>
            <a:endParaRPr sz="1100">
              <a:solidFill>
                <a:schemeClr val="dk2"/>
              </a:solidFill>
            </a:endParaRPr>
          </a:p>
          <a:p>
            <a:pPr indent="-298450" lvl="0" marL="457200" rtl="0" algn="l">
              <a:spcBef>
                <a:spcPts val="0"/>
              </a:spcBef>
              <a:spcAft>
                <a:spcPts val="0"/>
              </a:spcAft>
              <a:buClr>
                <a:schemeClr val="dk2"/>
              </a:buClr>
              <a:buSzPts val="1100"/>
              <a:buAutoNum type="arabicPeriod"/>
            </a:pPr>
            <a:r>
              <a:rPr lang="zh-TW" sz="1100" u="sng">
                <a:solidFill>
                  <a:schemeClr val="hlink"/>
                </a:solidFill>
                <a:hlinkClick r:id="rId3"/>
              </a:rPr>
              <a:t>Judging LLM-as-a-Judge with MT-Bench and Chatbot Arena</a:t>
            </a:r>
            <a:endParaRPr sz="1100">
              <a:solidFill>
                <a:schemeClr val="dk2"/>
              </a:solidFill>
            </a:endParaRPr>
          </a:p>
          <a:p>
            <a:pPr indent="-298450" lvl="0" marL="457200" rtl="0" algn="l">
              <a:spcBef>
                <a:spcPts val="0"/>
              </a:spcBef>
              <a:spcAft>
                <a:spcPts val="0"/>
              </a:spcAft>
              <a:buClr>
                <a:schemeClr val="dk2"/>
              </a:buClr>
              <a:buSzPts val="1100"/>
              <a:buAutoNum type="arabicPeriod"/>
            </a:pPr>
            <a:r>
              <a:rPr lang="zh-TW" sz="1100" u="sng">
                <a:solidFill>
                  <a:schemeClr val="hlink"/>
                </a:solidFill>
                <a:hlinkClick r:id="rId4"/>
              </a:rPr>
              <a:t>G-EVAL: NLG Evaluation using GPT-4 with Better Human Alignment </a:t>
            </a:r>
            <a:endParaRPr sz="1100">
              <a:solidFill>
                <a:schemeClr val="dk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8"/>
          <p:cNvSpPr txBox="1"/>
          <p:nvPr/>
        </p:nvSpPr>
        <p:spPr>
          <a:xfrm>
            <a:off x="324975" y="236900"/>
            <a:ext cx="79035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700">
                <a:latin typeface="Comic Sans MS"/>
                <a:ea typeface="Comic Sans MS"/>
                <a:cs typeface="Comic Sans MS"/>
                <a:sym typeface="Comic Sans MS"/>
              </a:rPr>
              <a:t>Situation 1: Evaluation of Model Size Impact within the Same LLM Family</a:t>
            </a:r>
            <a:endParaRPr sz="1700">
              <a:latin typeface="Comic Sans MS"/>
              <a:ea typeface="Comic Sans MS"/>
              <a:cs typeface="Comic Sans MS"/>
              <a:sym typeface="Comic Sans MS"/>
            </a:endParaRPr>
          </a:p>
        </p:txBody>
      </p:sp>
      <p:sp>
        <p:nvSpPr>
          <p:cNvPr id="155" name="Google Shape;155;p28"/>
          <p:cNvSpPr txBox="1"/>
          <p:nvPr/>
        </p:nvSpPr>
        <p:spPr>
          <a:xfrm>
            <a:off x="639100" y="877775"/>
            <a:ext cx="61368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TW" sz="1200">
                <a:solidFill>
                  <a:schemeClr val="dk1"/>
                </a:solidFill>
                <a:latin typeface="Comic Sans MS"/>
                <a:ea typeface="Comic Sans MS"/>
                <a:cs typeface="Comic Sans MS"/>
                <a:sym typeface="Comic Sans MS"/>
              </a:rPr>
              <a:t>Validate:</a:t>
            </a:r>
            <a:endParaRPr sz="1200">
              <a:latin typeface="Comic Sans MS"/>
              <a:ea typeface="Comic Sans MS"/>
              <a:cs typeface="Comic Sans MS"/>
              <a:sym typeface="Comic Sans MS"/>
            </a:endParaRPr>
          </a:p>
          <a:p>
            <a:pPr indent="-304800" lvl="0" marL="457200" rtl="0" algn="l">
              <a:spcBef>
                <a:spcPts val="0"/>
              </a:spcBef>
              <a:spcAft>
                <a:spcPts val="0"/>
              </a:spcAft>
              <a:buSzPts val="1200"/>
              <a:buFont typeface="Comic Sans MS"/>
              <a:buChar char="●"/>
            </a:pPr>
            <a:r>
              <a:rPr lang="zh-TW" sz="1200">
                <a:latin typeface="Comic Sans MS"/>
                <a:ea typeface="Comic Sans MS"/>
                <a:cs typeface="Comic Sans MS"/>
                <a:sym typeface="Comic Sans MS"/>
              </a:rPr>
              <a:t>Does generation quality consistently improve with model size?</a:t>
            </a:r>
            <a:endParaRPr sz="1200">
              <a:latin typeface="Comic Sans MS"/>
              <a:ea typeface="Comic Sans MS"/>
              <a:cs typeface="Comic Sans MS"/>
              <a:sym typeface="Comic Sans MS"/>
            </a:endParaRPr>
          </a:p>
          <a:p>
            <a:pPr indent="-304800" lvl="0" marL="457200" rtl="0" algn="l">
              <a:spcBef>
                <a:spcPts val="0"/>
              </a:spcBef>
              <a:spcAft>
                <a:spcPts val="0"/>
              </a:spcAft>
              <a:buSzPts val="1200"/>
              <a:buFont typeface="Comic Sans MS"/>
              <a:buChar char="●"/>
            </a:pPr>
            <a:r>
              <a:rPr lang="zh-TW" sz="1200">
                <a:latin typeface="Comic Sans MS"/>
                <a:ea typeface="Comic Sans MS"/>
                <a:cs typeface="Comic Sans MS"/>
                <a:sym typeface="Comic Sans MS"/>
              </a:rPr>
              <a:t>Does RAG provide more relative gain to smaller models?</a:t>
            </a:r>
            <a:endParaRPr sz="1200">
              <a:latin typeface="Comic Sans MS"/>
              <a:ea typeface="Comic Sans MS"/>
              <a:cs typeface="Comic Sans MS"/>
              <a:sym typeface="Comic Sans MS"/>
            </a:endParaRPr>
          </a:p>
        </p:txBody>
      </p:sp>
      <p:sp>
        <p:nvSpPr>
          <p:cNvPr id="156" name="Google Shape;156;p28"/>
          <p:cNvSpPr txBox="1"/>
          <p:nvPr/>
        </p:nvSpPr>
        <p:spPr>
          <a:xfrm>
            <a:off x="5382375" y="1672200"/>
            <a:ext cx="25527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800">
                <a:solidFill>
                  <a:srgbClr val="FF0000"/>
                </a:solidFill>
              </a:rPr>
              <a:t>Using which model ?</a:t>
            </a:r>
            <a:endParaRPr sz="1800">
              <a:solidFill>
                <a:srgbClr val="FF0000"/>
              </a:solidFill>
            </a:endParaRPr>
          </a:p>
          <a:p>
            <a:pPr indent="0" lvl="0" marL="0" rtl="0" algn="l">
              <a:spcBef>
                <a:spcPts val="0"/>
              </a:spcBef>
              <a:spcAft>
                <a:spcPts val="0"/>
              </a:spcAft>
              <a:buNone/>
            </a:pPr>
            <a:r>
              <a:rPr lang="zh-TW" sz="1800">
                <a:solidFill>
                  <a:srgbClr val="FF0000"/>
                </a:solidFill>
              </a:rPr>
              <a:t>Using which size ?</a:t>
            </a:r>
            <a:endParaRPr sz="1800">
              <a:solidFill>
                <a:srgbClr val="FF0000"/>
              </a:solidFill>
            </a:endParaRPr>
          </a:p>
        </p:txBody>
      </p:sp>
      <p:sp>
        <p:nvSpPr>
          <p:cNvPr id="157" name="Google Shape;157;p28"/>
          <p:cNvSpPr txBox="1"/>
          <p:nvPr/>
        </p:nvSpPr>
        <p:spPr>
          <a:xfrm>
            <a:off x="5382375" y="2340900"/>
            <a:ext cx="3410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800" u="sng">
                <a:solidFill>
                  <a:schemeClr val="hlink"/>
                </a:solidFill>
                <a:hlinkClick r:id="rId3"/>
              </a:rPr>
              <a:t>LLM Performance Leaderboard</a:t>
            </a:r>
            <a:endParaRPr sz="1800">
              <a:solidFill>
                <a:schemeClr val="dk2"/>
              </a:solidFill>
            </a:endParaRPr>
          </a:p>
        </p:txBody>
      </p:sp>
      <p:pic>
        <p:nvPicPr>
          <p:cNvPr id="158" name="Google Shape;158;p28" title="output (2).png"/>
          <p:cNvPicPr preferRelativeResize="0"/>
          <p:nvPr/>
        </p:nvPicPr>
        <p:blipFill>
          <a:blip r:embed="rId4">
            <a:alphaModFix/>
          </a:blip>
          <a:stretch>
            <a:fillRect/>
          </a:stretch>
        </p:blipFill>
        <p:spPr>
          <a:xfrm>
            <a:off x="175450" y="1872600"/>
            <a:ext cx="4874344" cy="322202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9"/>
          <p:cNvSpPr txBox="1"/>
          <p:nvPr/>
        </p:nvSpPr>
        <p:spPr>
          <a:xfrm>
            <a:off x="324975" y="236900"/>
            <a:ext cx="79035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700">
                <a:latin typeface="Comic Sans MS"/>
                <a:ea typeface="Comic Sans MS"/>
                <a:cs typeface="Comic Sans MS"/>
                <a:sym typeface="Comic Sans MS"/>
              </a:rPr>
              <a:t>Situation 2: Evaluation of RAG Performance Across LLMs with Similar Size</a:t>
            </a:r>
            <a:endParaRPr sz="1700">
              <a:latin typeface="Comic Sans MS"/>
              <a:ea typeface="Comic Sans MS"/>
              <a:cs typeface="Comic Sans MS"/>
              <a:sym typeface="Comic Sans MS"/>
            </a:endParaRPr>
          </a:p>
        </p:txBody>
      </p:sp>
      <p:sp>
        <p:nvSpPr>
          <p:cNvPr id="164" name="Google Shape;164;p29"/>
          <p:cNvSpPr txBox="1"/>
          <p:nvPr/>
        </p:nvSpPr>
        <p:spPr>
          <a:xfrm>
            <a:off x="639100" y="877775"/>
            <a:ext cx="77922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TW" sz="1200">
                <a:solidFill>
                  <a:schemeClr val="dk1"/>
                </a:solidFill>
                <a:latin typeface="Comic Sans MS"/>
                <a:ea typeface="Comic Sans MS"/>
                <a:cs typeface="Comic Sans MS"/>
                <a:sym typeface="Comic Sans MS"/>
              </a:rPr>
              <a:t>Validate:</a:t>
            </a:r>
            <a:endParaRPr sz="1200">
              <a:latin typeface="Comic Sans MS"/>
              <a:ea typeface="Comic Sans MS"/>
              <a:cs typeface="Comic Sans MS"/>
              <a:sym typeface="Comic Sans MS"/>
            </a:endParaRPr>
          </a:p>
          <a:p>
            <a:pPr indent="-304800" lvl="0" marL="457200" rtl="0" algn="l">
              <a:spcBef>
                <a:spcPts val="0"/>
              </a:spcBef>
              <a:spcAft>
                <a:spcPts val="0"/>
              </a:spcAft>
              <a:buSzPts val="1200"/>
              <a:buFont typeface="Comic Sans MS"/>
              <a:buChar char="●"/>
            </a:pPr>
            <a:r>
              <a:rPr lang="zh-TW" sz="1200">
                <a:latin typeface="Comic Sans MS"/>
                <a:ea typeface="Comic Sans MS"/>
                <a:cs typeface="Comic Sans MS"/>
                <a:sym typeface="Comic Sans MS"/>
              </a:rPr>
              <a:t>Are there significant differences in RAG effectiveness across model brands?</a:t>
            </a:r>
            <a:endParaRPr sz="1200">
              <a:latin typeface="Comic Sans MS"/>
              <a:ea typeface="Comic Sans MS"/>
              <a:cs typeface="Comic Sans MS"/>
              <a:sym typeface="Comic Sans MS"/>
            </a:endParaRPr>
          </a:p>
          <a:p>
            <a:pPr indent="-304800" lvl="0" marL="457200" rtl="0" algn="l">
              <a:spcBef>
                <a:spcPts val="0"/>
              </a:spcBef>
              <a:spcAft>
                <a:spcPts val="0"/>
              </a:spcAft>
              <a:buSzPts val="1200"/>
              <a:buFont typeface="Comic Sans MS"/>
              <a:buChar char="●"/>
            </a:pPr>
            <a:r>
              <a:rPr lang="zh-TW" sz="1200">
                <a:latin typeface="Comic Sans MS"/>
                <a:ea typeface="Comic Sans MS"/>
                <a:cs typeface="Comic Sans MS"/>
                <a:sym typeface="Comic Sans MS"/>
              </a:rPr>
              <a:t>Which model shows the most improvement when RAG is applied?</a:t>
            </a:r>
            <a:endParaRPr sz="1200">
              <a:latin typeface="Comic Sans MS"/>
              <a:ea typeface="Comic Sans MS"/>
              <a:cs typeface="Comic Sans MS"/>
              <a:sym typeface="Comic Sans MS"/>
            </a:endParaRPr>
          </a:p>
        </p:txBody>
      </p:sp>
      <p:pic>
        <p:nvPicPr>
          <p:cNvPr id="165" name="Google Shape;165;p29" title="output (3).png"/>
          <p:cNvPicPr preferRelativeResize="0"/>
          <p:nvPr/>
        </p:nvPicPr>
        <p:blipFill>
          <a:blip r:embed="rId3">
            <a:alphaModFix/>
          </a:blip>
          <a:stretch>
            <a:fillRect/>
          </a:stretch>
        </p:blipFill>
        <p:spPr>
          <a:xfrm>
            <a:off x="639100" y="1811150"/>
            <a:ext cx="4874344" cy="322202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0"/>
          <p:cNvSpPr txBox="1"/>
          <p:nvPr/>
        </p:nvSpPr>
        <p:spPr>
          <a:xfrm>
            <a:off x="324975" y="236900"/>
            <a:ext cx="79035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700">
                <a:latin typeface="Comic Sans MS"/>
                <a:ea typeface="Comic Sans MS"/>
                <a:cs typeface="Comic Sans MS"/>
                <a:sym typeface="Comic Sans MS"/>
              </a:rPr>
              <a:t>Situation 3: Evaluation of Semantic Augmentation in Small vs. Large LLMs</a:t>
            </a:r>
            <a:endParaRPr sz="1700">
              <a:latin typeface="Comic Sans MS"/>
              <a:ea typeface="Comic Sans MS"/>
              <a:cs typeface="Comic Sans MS"/>
              <a:sym typeface="Comic Sans MS"/>
            </a:endParaRPr>
          </a:p>
        </p:txBody>
      </p:sp>
      <p:sp>
        <p:nvSpPr>
          <p:cNvPr id="171" name="Google Shape;171;p30"/>
          <p:cNvSpPr txBox="1"/>
          <p:nvPr/>
        </p:nvSpPr>
        <p:spPr>
          <a:xfrm>
            <a:off x="639100" y="877775"/>
            <a:ext cx="5621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TW" sz="1200">
                <a:solidFill>
                  <a:schemeClr val="dk1"/>
                </a:solidFill>
                <a:latin typeface="Comic Sans MS"/>
                <a:ea typeface="Comic Sans MS"/>
                <a:cs typeface="Comic Sans MS"/>
                <a:sym typeface="Comic Sans MS"/>
              </a:rPr>
              <a:t>Validate:</a:t>
            </a:r>
            <a:endParaRPr sz="1200">
              <a:latin typeface="Comic Sans MS"/>
              <a:ea typeface="Comic Sans MS"/>
              <a:cs typeface="Comic Sans MS"/>
              <a:sym typeface="Comic Sans MS"/>
            </a:endParaRPr>
          </a:p>
          <a:p>
            <a:pPr indent="-304800" lvl="0" marL="457200" rtl="0" algn="l">
              <a:spcBef>
                <a:spcPts val="0"/>
              </a:spcBef>
              <a:spcAft>
                <a:spcPts val="0"/>
              </a:spcAft>
              <a:buSzPts val="1200"/>
              <a:buFont typeface="Comic Sans MS"/>
              <a:buChar char="●"/>
            </a:pPr>
            <a:r>
              <a:rPr lang="zh-TW" sz="1200">
                <a:latin typeface="Comic Sans MS"/>
                <a:ea typeface="Comic Sans MS"/>
                <a:cs typeface="Comic Sans MS"/>
                <a:sym typeface="Comic Sans MS"/>
              </a:rPr>
              <a:t>Can small models with RAG outperform large models without RAG?</a:t>
            </a:r>
            <a:endParaRPr sz="1200">
              <a:latin typeface="Comic Sans MS"/>
              <a:ea typeface="Comic Sans MS"/>
              <a:cs typeface="Comic Sans MS"/>
              <a:sym typeface="Comic Sans MS"/>
            </a:endParaRPr>
          </a:p>
          <a:p>
            <a:pPr indent="-304800" lvl="0" marL="457200" rtl="0" algn="l">
              <a:spcBef>
                <a:spcPts val="0"/>
              </a:spcBef>
              <a:spcAft>
                <a:spcPts val="0"/>
              </a:spcAft>
              <a:buSzPts val="1200"/>
              <a:buFont typeface="Comic Sans MS"/>
              <a:buChar char="●"/>
            </a:pPr>
            <a:r>
              <a:rPr lang="zh-TW" sz="1200">
                <a:latin typeface="Comic Sans MS"/>
                <a:ea typeface="Comic Sans MS"/>
                <a:cs typeface="Comic Sans MS"/>
                <a:sym typeface="Comic Sans MS"/>
              </a:rPr>
              <a:t>Is the marginal benefit of RAG greater for small models?</a:t>
            </a:r>
            <a:endParaRPr sz="1200">
              <a:latin typeface="Comic Sans MS"/>
              <a:ea typeface="Comic Sans MS"/>
              <a:cs typeface="Comic Sans MS"/>
              <a:sym typeface="Comic Sans MS"/>
            </a:endParaRPr>
          </a:p>
        </p:txBody>
      </p:sp>
      <p:pic>
        <p:nvPicPr>
          <p:cNvPr id="172" name="Google Shape;172;p30"/>
          <p:cNvPicPr preferRelativeResize="0"/>
          <p:nvPr/>
        </p:nvPicPr>
        <p:blipFill>
          <a:blip r:embed="rId3">
            <a:alphaModFix/>
          </a:blip>
          <a:stretch>
            <a:fillRect/>
          </a:stretch>
        </p:blipFill>
        <p:spPr>
          <a:xfrm>
            <a:off x="5037375" y="1801850"/>
            <a:ext cx="3853949" cy="3097226"/>
          </a:xfrm>
          <a:prstGeom prst="rect">
            <a:avLst/>
          </a:prstGeom>
          <a:noFill/>
          <a:ln>
            <a:noFill/>
          </a:ln>
        </p:spPr>
      </p:pic>
      <p:sp>
        <p:nvSpPr>
          <p:cNvPr id="173" name="Google Shape;173;p30"/>
          <p:cNvSpPr txBox="1"/>
          <p:nvPr/>
        </p:nvSpPr>
        <p:spPr>
          <a:xfrm>
            <a:off x="7174475" y="1366625"/>
            <a:ext cx="18378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sz="1800" u="sng">
                <a:solidFill>
                  <a:schemeClr val="hlink"/>
                </a:solidFill>
                <a:hlinkClick r:id="rId4"/>
              </a:rPr>
              <a:t>Reference</a:t>
            </a:r>
            <a:endParaRPr sz="1800">
              <a:solidFill>
                <a:schemeClr val="dk2"/>
              </a:solidFill>
            </a:endParaRPr>
          </a:p>
        </p:txBody>
      </p:sp>
      <p:pic>
        <p:nvPicPr>
          <p:cNvPr id="174" name="Google Shape;174;p30" title="output1.png"/>
          <p:cNvPicPr preferRelativeResize="0"/>
          <p:nvPr/>
        </p:nvPicPr>
        <p:blipFill>
          <a:blip r:embed="rId5">
            <a:alphaModFix/>
          </a:blip>
          <a:stretch>
            <a:fillRect/>
          </a:stretch>
        </p:blipFill>
        <p:spPr>
          <a:xfrm>
            <a:off x="152400" y="1769075"/>
            <a:ext cx="4740277" cy="309722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1"/>
          <p:cNvSpPr txBox="1"/>
          <p:nvPr/>
        </p:nvSpPr>
        <p:spPr>
          <a:xfrm>
            <a:off x="324975" y="236900"/>
            <a:ext cx="86145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700">
                <a:latin typeface="Comic Sans MS"/>
                <a:ea typeface="Comic Sans MS"/>
                <a:cs typeface="Comic Sans MS"/>
                <a:sym typeface="Comic Sans MS"/>
              </a:rPr>
              <a:t>Situation </a:t>
            </a:r>
            <a:r>
              <a:rPr lang="zh-TW" sz="1700">
                <a:latin typeface="Comic Sans MS"/>
                <a:ea typeface="Comic Sans MS"/>
                <a:cs typeface="Comic Sans MS"/>
                <a:sym typeface="Comic Sans MS"/>
              </a:rPr>
              <a:t>4</a:t>
            </a:r>
            <a:r>
              <a:rPr lang="zh-TW" sz="1700">
                <a:latin typeface="Comic Sans MS"/>
                <a:ea typeface="Comic Sans MS"/>
                <a:cs typeface="Comic Sans MS"/>
                <a:sym typeface="Comic Sans MS"/>
              </a:rPr>
              <a:t>: </a:t>
            </a:r>
            <a:r>
              <a:rPr lang="zh-TW" sz="1700">
                <a:latin typeface="Comic Sans MS"/>
                <a:ea typeface="Comic Sans MS"/>
                <a:cs typeface="Comic Sans MS"/>
                <a:sym typeface="Comic Sans MS"/>
              </a:rPr>
              <a:t>Evaluation of SFT, RAG, and Baseline LLMs on Configuration Error Explanation </a:t>
            </a:r>
            <a:endParaRPr sz="1700">
              <a:latin typeface="Comic Sans MS"/>
              <a:ea typeface="Comic Sans MS"/>
              <a:cs typeface="Comic Sans MS"/>
              <a:sym typeface="Comic Sans MS"/>
            </a:endParaRPr>
          </a:p>
        </p:txBody>
      </p:sp>
      <p:sp>
        <p:nvSpPr>
          <p:cNvPr id="180" name="Google Shape;180;p31"/>
          <p:cNvSpPr txBox="1"/>
          <p:nvPr/>
        </p:nvSpPr>
        <p:spPr>
          <a:xfrm>
            <a:off x="639100" y="877775"/>
            <a:ext cx="77922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TW" sz="1200">
                <a:solidFill>
                  <a:schemeClr val="dk1"/>
                </a:solidFill>
                <a:latin typeface="Comic Sans MS"/>
                <a:ea typeface="Comic Sans MS"/>
                <a:cs typeface="Comic Sans MS"/>
                <a:sym typeface="Comic Sans MS"/>
              </a:rPr>
              <a:t>Validate:</a:t>
            </a:r>
            <a:endParaRPr sz="1200">
              <a:latin typeface="Comic Sans MS"/>
              <a:ea typeface="Comic Sans MS"/>
              <a:cs typeface="Comic Sans MS"/>
              <a:sym typeface="Comic Sans MS"/>
            </a:endParaRPr>
          </a:p>
          <a:p>
            <a:pPr indent="-304800" lvl="0" marL="457200" rtl="0" algn="l">
              <a:spcBef>
                <a:spcPts val="0"/>
              </a:spcBef>
              <a:spcAft>
                <a:spcPts val="0"/>
              </a:spcAft>
              <a:buSzPts val="1200"/>
              <a:buFont typeface="Comic Sans MS"/>
              <a:buChar char="●"/>
            </a:pPr>
            <a:r>
              <a:rPr lang="zh-TW" sz="1200">
                <a:latin typeface="Comic Sans MS"/>
                <a:ea typeface="Comic Sans MS"/>
                <a:cs typeface="Comic Sans MS"/>
                <a:sym typeface="Comic Sans MS"/>
              </a:rPr>
              <a:t>Can small models with RAG outperform large models without RAG?</a:t>
            </a:r>
            <a:endParaRPr sz="1200">
              <a:latin typeface="Comic Sans MS"/>
              <a:ea typeface="Comic Sans MS"/>
              <a:cs typeface="Comic Sans MS"/>
              <a:sym typeface="Comic Sans MS"/>
            </a:endParaRPr>
          </a:p>
          <a:p>
            <a:pPr indent="-304800" lvl="0" marL="457200" rtl="0" algn="l">
              <a:spcBef>
                <a:spcPts val="0"/>
              </a:spcBef>
              <a:spcAft>
                <a:spcPts val="0"/>
              </a:spcAft>
              <a:buSzPts val="1200"/>
              <a:buFont typeface="Comic Sans MS"/>
              <a:buChar char="●"/>
            </a:pPr>
            <a:r>
              <a:rPr lang="zh-TW" sz="1200">
                <a:latin typeface="Comic Sans MS"/>
                <a:ea typeface="Comic Sans MS"/>
                <a:cs typeface="Comic Sans MS"/>
                <a:sym typeface="Comic Sans MS"/>
              </a:rPr>
              <a:t>Is the marginal benefit of RAG greater for small models?</a:t>
            </a:r>
            <a:endParaRPr sz="1200">
              <a:latin typeface="Comic Sans MS"/>
              <a:ea typeface="Comic Sans MS"/>
              <a:cs typeface="Comic Sans MS"/>
              <a:sym typeface="Comic Sans MS"/>
            </a:endParaRPr>
          </a:p>
        </p:txBody>
      </p:sp>
      <p:pic>
        <p:nvPicPr>
          <p:cNvPr id="181" name="Google Shape;181;p31" title="output (5).png"/>
          <p:cNvPicPr preferRelativeResize="0"/>
          <p:nvPr/>
        </p:nvPicPr>
        <p:blipFill>
          <a:blip r:embed="rId3">
            <a:alphaModFix/>
          </a:blip>
          <a:stretch>
            <a:fillRect/>
          </a:stretch>
        </p:blipFill>
        <p:spPr>
          <a:xfrm>
            <a:off x="0" y="2199250"/>
            <a:ext cx="4198375" cy="277519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2"/>
          <p:cNvSpPr txBox="1"/>
          <p:nvPr/>
        </p:nvSpPr>
        <p:spPr>
          <a:xfrm>
            <a:off x="324975" y="236900"/>
            <a:ext cx="86145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700">
                <a:latin typeface="Comic Sans MS"/>
                <a:ea typeface="Comic Sans MS"/>
                <a:cs typeface="Comic Sans MS"/>
                <a:sym typeface="Comic Sans MS"/>
              </a:rPr>
              <a:t>Situation </a:t>
            </a:r>
            <a:r>
              <a:rPr lang="zh-TW" sz="1700">
                <a:latin typeface="Comic Sans MS"/>
                <a:ea typeface="Comic Sans MS"/>
                <a:cs typeface="Comic Sans MS"/>
                <a:sym typeface="Comic Sans MS"/>
              </a:rPr>
              <a:t>5</a:t>
            </a:r>
            <a:r>
              <a:rPr lang="zh-TW" sz="1700">
                <a:latin typeface="Comic Sans MS"/>
                <a:ea typeface="Comic Sans MS"/>
                <a:cs typeface="Comic Sans MS"/>
                <a:sym typeface="Comic Sans MS"/>
              </a:rPr>
              <a:t>: </a:t>
            </a:r>
            <a:r>
              <a:rPr lang="zh-TW" sz="1700">
                <a:latin typeface="Comic Sans MS"/>
                <a:ea typeface="Comic Sans MS"/>
                <a:cs typeface="Comic Sans MS"/>
                <a:sym typeface="Comic Sans MS"/>
              </a:rPr>
              <a:t>Log Duration Impact on Processing Time</a:t>
            </a:r>
            <a:endParaRPr sz="1700">
              <a:latin typeface="Comic Sans MS"/>
              <a:ea typeface="Comic Sans MS"/>
              <a:cs typeface="Comic Sans MS"/>
              <a:sym typeface="Comic Sans MS"/>
            </a:endParaRPr>
          </a:p>
        </p:txBody>
      </p:sp>
      <p:sp>
        <p:nvSpPr>
          <p:cNvPr id="187" name="Google Shape;187;p32"/>
          <p:cNvSpPr txBox="1"/>
          <p:nvPr/>
        </p:nvSpPr>
        <p:spPr>
          <a:xfrm>
            <a:off x="639100" y="877775"/>
            <a:ext cx="77922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TW" sz="1200">
                <a:solidFill>
                  <a:schemeClr val="dk1"/>
                </a:solidFill>
                <a:latin typeface="Comic Sans MS"/>
                <a:ea typeface="Comic Sans MS"/>
                <a:cs typeface="Comic Sans MS"/>
                <a:sym typeface="Comic Sans MS"/>
              </a:rPr>
              <a:t>Validate:</a:t>
            </a:r>
            <a:endParaRPr sz="1200">
              <a:latin typeface="Comic Sans MS"/>
              <a:ea typeface="Comic Sans MS"/>
              <a:cs typeface="Comic Sans MS"/>
              <a:sym typeface="Comic Sans MS"/>
            </a:endParaRPr>
          </a:p>
          <a:p>
            <a:pPr indent="-304800" lvl="0" marL="457200" rtl="0" algn="l">
              <a:spcBef>
                <a:spcPts val="0"/>
              </a:spcBef>
              <a:spcAft>
                <a:spcPts val="0"/>
              </a:spcAft>
              <a:buSzPts val="1200"/>
              <a:buFont typeface="Comic Sans MS"/>
              <a:buChar char="●"/>
            </a:pPr>
            <a:r>
              <a:rPr lang="zh-TW" sz="1200">
                <a:latin typeface="Comic Sans MS"/>
                <a:ea typeface="Comic Sans MS"/>
                <a:cs typeface="Comic Sans MS"/>
                <a:sym typeface="Comic Sans MS"/>
              </a:rPr>
              <a:t>Measure how processing time scales with log length for both stages.</a:t>
            </a:r>
            <a:endParaRPr sz="1200">
              <a:latin typeface="Comic Sans MS"/>
              <a:ea typeface="Comic Sans MS"/>
              <a:cs typeface="Comic Sans MS"/>
              <a:sym typeface="Comic Sans MS"/>
            </a:endParaRPr>
          </a:p>
          <a:p>
            <a:pPr indent="-304800" lvl="0" marL="457200" rtl="0" algn="l">
              <a:spcBef>
                <a:spcPts val="0"/>
              </a:spcBef>
              <a:spcAft>
                <a:spcPts val="0"/>
              </a:spcAft>
              <a:buSzPts val="1200"/>
              <a:buFont typeface="Comic Sans MS"/>
              <a:buChar char="●"/>
            </a:pPr>
            <a:r>
              <a:rPr lang="zh-TW" sz="1200">
                <a:latin typeface="Comic Sans MS"/>
                <a:ea typeface="Comic Sans MS"/>
                <a:cs typeface="Comic Sans MS"/>
                <a:sym typeface="Comic Sans MS"/>
              </a:rPr>
              <a:t>Analyze whether different error types require different log durations.</a:t>
            </a:r>
            <a:endParaRPr sz="1200">
              <a:latin typeface="Comic Sans MS"/>
              <a:ea typeface="Comic Sans MS"/>
              <a:cs typeface="Comic Sans MS"/>
              <a:sym typeface="Comic Sans MS"/>
            </a:endParaRPr>
          </a:p>
        </p:txBody>
      </p:sp>
      <p:pic>
        <p:nvPicPr>
          <p:cNvPr id="188" name="Google Shape;188;p32" title="output(5).png"/>
          <p:cNvPicPr preferRelativeResize="0"/>
          <p:nvPr/>
        </p:nvPicPr>
        <p:blipFill>
          <a:blip r:embed="rId3">
            <a:alphaModFix/>
          </a:blip>
          <a:stretch>
            <a:fillRect/>
          </a:stretch>
        </p:blipFill>
        <p:spPr>
          <a:xfrm>
            <a:off x="324975" y="2109851"/>
            <a:ext cx="5087776" cy="30336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pic>
        <p:nvPicPr>
          <p:cNvPr id="193" name="Google Shape;193;p33"/>
          <p:cNvPicPr preferRelativeResize="0"/>
          <p:nvPr/>
        </p:nvPicPr>
        <p:blipFill>
          <a:blip r:embed="rId3">
            <a:alphaModFix/>
          </a:blip>
          <a:stretch>
            <a:fillRect/>
          </a:stretch>
        </p:blipFill>
        <p:spPr>
          <a:xfrm>
            <a:off x="802688" y="857050"/>
            <a:ext cx="7538625" cy="4286450"/>
          </a:xfrm>
          <a:prstGeom prst="rect">
            <a:avLst/>
          </a:prstGeom>
          <a:noFill/>
          <a:ln>
            <a:noFill/>
          </a:ln>
        </p:spPr>
      </p:pic>
      <p:sp>
        <p:nvSpPr>
          <p:cNvPr id="194" name="Google Shape;194;p33"/>
          <p:cNvSpPr txBox="1"/>
          <p:nvPr/>
        </p:nvSpPr>
        <p:spPr>
          <a:xfrm>
            <a:off x="0" y="0"/>
            <a:ext cx="7935000" cy="7434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0"/>
              </a:spcBef>
              <a:spcAft>
                <a:spcPts val="0"/>
              </a:spcAft>
              <a:buClr>
                <a:schemeClr val="dk1"/>
              </a:buClr>
              <a:buSzPts val="1100"/>
              <a:buChar char="●"/>
            </a:pPr>
            <a:r>
              <a:rPr b="1" lang="zh-TW" sz="1100">
                <a:solidFill>
                  <a:schemeClr val="dk1"/>
                </a:solidFill>
              </a:rPr>
              <a:t>Comparative experiments</a:t>
            </a:r>
            <a:r>
              <a:rPr lang="zh-TW" sz="1100">
                <a:solidFill>
                  <a:schemeClr val="dk1"/>
                </a:solidFill>
              </a:rPr>
              <a:t> </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zh-TW" sz="1100">
                <a:solidFill>
                  <a:schemeClr val="dk1"/>
                </a:solidFill>
              </a:rPr>
              <a:t>show that, compared to a non-RAG LLM, our system demonstrates significantly better performance in terms of </a:t>
            </a:r>
            <a:r>
              <a:rPr b="1" lang="zh-TW" sz="1100">
                <a:solidFill>
                  <a:schemeClr val="dk1"/>
                </a:solidFill>
              </a:rPr>
              <a:t>error correction accuracy</a:t>
            </a:r>
            <a:r>
              <a:rPr lang="zh-TW" sz="1100">
                <a:solidFill>
                  <a:schemeClr val="dk1"/>
                </a:solidFill>
              </a:rPr>
              <a:t> and </a:t>
            </a:r>
            <a:r>
              <a:rPr b="1" lang="zh-TW" sz="1100">
                <a:solidFill>
                  <a:schemeClr val="dk1"/>
                </a:solidFill>
              </a:rPr>
              <a:t>response reliability</a:t>
            </a:r>
            <a:r>
              <a:rPr lang="zh-TW" sz="1100">
                <a:solidFill>
                  <a:schemeClr val="dk1"/>
                </a:solidFill>
              </a:rPr>
              <a:t>.</a:t>
            </a:r>
            <a:endParaRPr sz="11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pic>
        <p:nvPicPr>
          <p:cNvPr id="199" name="Google Shape;199;p34"/>
          <p:cNvPicPr preferRelativeResize="0"/>
          <p:nvPr/>
        </p:nvPicPr>
        <p:blipFill rotWithShape="1">
          <a:blip r:embed="rId3">
            <a:alphaModFix/>
          </a:blip>
          <a:srcRect b="0" l="0" r="45483" t="0"/>
          <a:stretch/>
        </p:blipFill>
        <p:spPr>
          <a:xfrm>
            <a:off x="1129038" y="1355875"/>
            <a:ext cx="6885926" cy="3705125"/>
          </a:xfrm>
          <a:prstGeom prst="rect">
            <a:avLst/>
          </a:prstGeom>
          <a:noFill/>
          <a:ln>
            <a:noFill/>
          </a:ln>
        </p:spPr>
      </p:pic>
      <p:sp>
        <p:nvSpPr>
          <p:cNvPr id="200" name="Google Shape;200;p34"/>
          <p:cNvSpPr txBox="1"/>
          <p:nvPr/>
        </p:nvSpPr>
        <p:spPr>
          <a:xfrm>
            <a:off x="0" y="150000"/>
            <a:ext cx="7935000" cy="11328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0"/>
              </a:spcBef>
              <a:spcAft>
                <a:spcPts val="0"/>
              </a:spcAft>
              <a:buClr>
                <a:schemeClr val="dk1"/>
              </a:buClr>
              <a:buSzPts val="1100"/>
              <a:buChar char="●"/>
            </a:pPr>
            <a:r>
              <a:rPr b="1" lang="zh-TW" sz="1100">
                <a:solidFill>
                  <a:schemeClr val="dk1"/>
                </a:solidFill>
              </a:rPr>
              <a:t>Common Issues Without RAG Support</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zh-TW" sz="1100">
                <a:solidFill>
                  <a:schemeClr val="dk1"/>
                </a:solidFill>
              </a:rPr>
              <a:t>Hallucination errors</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zh-TW" sz="1100">
                <a:solidFill>
                  <a:schemeClr val="dk1"/>
                </a:solidFill>
              </a:rPr>
              <a:t>Incorrect suggestions</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zh-TW" sz="1100">
                <a:solidFill>
                  <a:schemeClr val="dk1"/>
                </a:solidFill>
              </a:rPr>
              <a:t>Ignoring actual log content</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zh-TW" sz="1100">
                <a:solidFill>
                  <a:schemeClr val="dk1"/>
                </a:solidFill>
              </a:rPr>
              <a:t>Invalid configuration output</a:t>
            </a:r>
            <a:endParaRPr b="1" sz="11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06" name="Google Shape;206;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6"/>
          <p:cNvSpPr txBox="1"/>
          <p:nvPr>
            <p:ph type="ctrTitle"/>
          </p:nvPr>
        </p:nvSpPr>
        <p:spPr>
          <a:xfrm>
            <a:off x="311708" y="8207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latin typeface="Comic Sans MS"/>
              <a:ea typeface="Comic Sans MS"/>
              <a:cs typeface="Comic Sans MS"/>
              <a:sym typeface="Comic Sans MS"/>
            </a:endParaRPr>
          </a:p>
          <a:p>
            <a:pPr indent="0" lvl="0" marL="0" rtl="0" algn="ctr">
              <a:spcBef>
                <a:spcPts val="0"/>
              </a:spcBef>
              <a:spcAft>
                <a:spcPts val="0"/>
              </a:spcAft>
              <a:buNone/>
            </a:pPr>
            <a:r>
              <a:t/>
            </a:r>
            <a:endParaRPr sz="1266">
              <a:latin typeface="Comic Sans MS"/>
              <a:ea typeface="Comic Sans MS"/>
              <a:cs typeface="Comic Sans MS"/>
              <a:sym typeface="Comic Sans MS"/>
            </a:endParaRPr>
          </a:p>
          <a:p>
            <a:pPr indent="0" lvl="0" marL="0" rtl="0" algn="ctr">
              <a:spcBef>
                <a:spcPts val="0"/>
              </a:spcBef>
              <a:spcAft>
                <a:spcPts val="0"/>
              </a:spcAft>
              <a:buNone/>
            </a:pPr>
            <a:r>
              <a:rPr lang="zh-TW" sz="2433">
                <a:latin typeface="Comic Sans MS"/>
                <a:ea typeface="Comic Sans MS"/>
                <a:cs typeface="Comic Sans MS"/>
                <a:sym typeface="Comic Sans MS"/>
              </a:rPr>
              <a:t>other thing</a:t>
            </a:r>
            <a:endParaRPr sz="2433">
              <a:latin typeface="Comic Sans MS"/>
              <a:ea typeface="Comic Sans MS"/>
              <a:cs typeface="Comic Sans MS"/>
              <a:sym typeface="Comic Sans M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7"/>
          <p:cNvSpPr txBox="1"/>
          <p:nvPr/>
        </p:nvSpPr>
        <p:spPr>
          <a:xfrm>
            <a:off x="1092300" y="1833000"/>
            <a:ext cx="6959400" cy="1847100"/>
          </a:xfrm>
          <a:prstGeom prst="rect">
            <a:avLst/>
          </a:prstGeom>
          <a:noFill/>
          <a:ln>
            <a:noFill/>
          </a:ln>
        </p:spPr>
        <p:txBody>
          <a:bodyPr anchorCtr="0" anchor="t" bIns="91425" lIns="91425" spcFirstLastPara="1" rIns="91425" wrap="square" tIns="91425">
            <a:spAutoFit/>
          </a:bodyPr>
          <a:lstStyle/>
          <a:p>
            <a:pPr indent="-304800" lvl="0" marL="457200" rtl="0" algn="l">
              <a:lnSpc>
                <a:spcPct val="200000"/>
              </a:lnSpc>
              <a:spcBef>
                <a:spcPts val="0"/>
              </a:spcBef>
              <a:spcAft>
                <a:spcPts val="0"/>
              </a:spcAft>
              <a:buClr>
                <a:schemeClr val="dk1"/>
              </a:buClr>
              <a:buSzPts val="1200"/>
              <a:buChar char="●"/>
            </a:pPr>
            <a:r>
              <a:rPr b="1" lang="zh-TW" sz="1200">
                <a:solidFill>
                  <a:schemeClr val="dk1"/>
                </a:solidFill>
              </a:rPr>
              <a:t>Defining the prompt component</a:t>
            </a:r>
            <a:endParaRPr b="1" sz="1200">
              <a:solidFill>
                <a:schemeClr val="dk1"/>
              </a:solidFill>
            </a:endParaRPr>
          </a:p>
          <a:p>
            <a:pPr indent="-304800" lvl="0" marL="457200" rtl="0" algn="l">
              <a:lnSpc>
                <a:spcPct val="200000"/>
              </a:lnSpc>
              <a:spcBef>
                <a:spcPts val="0"/>
              </a:spcBef>
              <a:spcAft>
                <a:spcPts val="0"/>
              </a:spcAft>
              <a:buClr>
                <a:schemeClr val="dk1"/>
              </a:buClr>
              <a:buSzPts val="1200"/>
              <a:buChar char="●"/>
            </a:pPr>
            <a:r>
              <a:rPr b="1" lang="zh-TW" sz="1200">
                <a:solidFill>
                  <a:schemeClr val="dk1"/>
                </a:solidFill>
              </a:rPr>
              <a:t>Emphasized atomic chunk design in embedding. </a:t>
            </a:r>
            <a:r>
              <a:rPr b="1" lang="zh-TW" sz="1200">
                <a:solidFill>
                  <a:schemeClr val="dk1"/>
                </a:solidFill>
              </a:rPr>
              <a:t> ( Low priority )</a:t>
            </a:r>
            <a:endParaRPr b="1" sz="1200">
              <a:solidFill>
                <a:schemeClr val="dk1"/>
              </a:solidFill>
            </a:endParaRPr>
          </a:p>
          <a:p>
            <a:pPr indent="-304800" lvl="0" marL="457200" rtl="0" algn="l">
              <a:lnSpc>
                <a:spcPct val="200000"/>
              </a:lnSpc>
              <a:spcBef>
                <a:spcPts val="0"/>
              </a:spcBef>
              <a:spcAft>
                <a:spcPts val="0"/>
              </a:spcAft>
              <a:buClr>
                <a:schemeClr val="dk1"/>
              </a:buClr>
              <a:buSzPts val="1200"/>
              <a:buChar char="●"/>
            </a:pPr>
            <a:r>
              <a:rPr b="1" lang="zh-TW" sz="1200">
                <a:solidFill>
                  <a:schemeClr val="dk1"/>
                </a:solidFill>
              </a:rPr>
              <a:t>Johnson will study chunk size, overlap, and expand SFT examples. ( Low priority )</a:t>
            </a:r>
            <a:endParaRPr b="1" sz="1200">
              <a:solidFill>
                <a:schemeClr val="dk1"/>
              </a:solidFill>
            </a:endParaRPr>
          </a:p>
          <a:p>
            <a:pPr indent="-304800" lvl="0" marL="457200" rtl="0" algn="just">
              <a:lnSpc>
                <a:spcPct val="200000"/>
              </a:lnSpc>
              <a:spcBef>
                <a:spcPts val="0"/>
              </a:spcBef>
              <a:spcAft>
                <a:spcPts val="0"/>
              </a:spcAft>
              <a:buClr>
                <a:schemeClr val="dk1"/>
              </a:buClr>
              <a:buSzPts val="1200"/>
              <a:buChar char="●"/>
            </a:pPr>
            <a:r>
              <a:rPr b="1" lang="zh-TW" sz="1200">
                <a:solidFill>
                  <a:schemeClr val="dk1"/>
                </a:solidFill>
              </a:rPr>
              <a:t>Proposed metrics using debug data and evaluated by context and answer relevance. </a:t>
            </a:r>
            <a:endParaRPr b="1" sz="1200">
              <a:solidFill>
                <a:schemeClr val="dk1"/>
              </a:solidFill>
            </a:endParaRPr>
          </a:p>
          <a:p>
            <a:pPr indent="-304800" lvl="1" marL="914400" rtl="0" algn="l">
              <a:lnSpc>
                <a:spcPct val="200000"/>
              </a:lnSpc>
              <a:spcBef>
                <a:spcPts val="0"/>
              </a:spcBef>
              <a:spcAft>
                <a:spcPts val="0"/>
              </a:spcAft>
              <a:buClr>
                <a:schemeClr val="dk1"/>
              </a:buClr>
              <a:buSzPts val="1200"/>
              <a:buChar char="○"/>
            </a:pPr>
            <a:r>
              <a:rPr b="1" lang="zh-TW" sz="1200">
                <a:solidFill>
                  <a:schemeClr val="dk1"/>
                </a:solidFill>
              </a:rPr>
              <a:t>Johnson aims to finalize the framework and involve interns.</a:t>
            </a:r>
            <a:endParaRPr b="1" sz="120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8"/>
          <p:cNvSpPr txBox="1"/>
          <p:nvPr/>
        </p:nvSpPr>
        <p:spPr>
          <a:xfrm>
            <a:off x="679350" y="1463550"/>
            <a:ext cx="7785300" cy="2216400"/>
          </a:xfrm>
          <a:prstGeom prst="rect">
            <a:avLst/>
          </a:prstGeom>
          <a:noFill/>
          <a:ln>
            <a:noFill/>
          </a:ln>
        </p:spPr>
        <p:txBody>
          <a:bodyPr anchorCtr="0" anchor="t" bIns="91425" lIns="91425" spcFirstLastPara="1" rIns="91425" wrap="square" tIns="91425">
            <a:spAutoFit/>
          </a:bodyPr>
          <a:lstStyle/>
          <a:p>
            <a:pPr indent="-304800" lvl="0" marL="457200" rtl="0" algn="just">
              <a:lnSpc>
                <a:spcPct val="200000"/>
              </a:lnSpc>
              <a:spcBef>
                <a:spcPts val="0"/>
              </a:spcBef>
              <a:spcAft>
                <a:spcPts val="0"/>
              </a:spcAft>
              <a:buClr>
                <a:schemeClr val="dk1"/>
              </a:buClr>
              <a:buSzPts val="1200"/>
              <a:buChar char="●"/>
            </a:pPr>
            <a:r>
              <a:rPr b="1" lang="zh-TW" sz="1200">
                <a:solidFill>
                  <a:schemeClr val="dk1"/>
                </a:solidFill>
              </a:rPr>
              <a:t>Use other LLMs to score them to assess whether they are reasonable. Johnson will be responsible for this part of the framework.</a:t>
            </a:r>
            <a:endParaRPr b="1" sz="1200">
              <a:solidFill>
                <a:schemeClr val="dk1"/>
              </a:solidFill>
            </a:endParaRPr>
          </a:p>
          <a:p>
            <a:pPr indent="-304800" lvl="0" marL="457200" rtl="0" algn="just">
              <a:lnSpc>
                <a:spcPct val="200000"/>
              </a:lnSpc>
              <a:spcBef>
                <a:spcPts val="0"/>
              </a:spcBef>
              <a:spcAft>
                <a:spcPts val="0"/>
              </a:spcAft>
              <a:buClr>
                <a:schemeClr val="dk1"/>
              </a:buClr>
              <a:buSzPts val="1200"/>
              <a:buChar char="●"/>
            </a:pPr>
            <a:r>
              <a:rPr b="1" lang="zh-TW" sz="1200">
                <a:solidFill>
                  <a:schemeClr val="dk1"/>
                </a:solidFill>
              </a:rPr>
              <a:t>The process of automatically creating YAML was discussed, and the need to create a JSON file containing multiple records was emphasized to facilitate debugging.</a:t>
            </a:r>
            <a:endParaRPr b="1" sz="1200">
              <a:solidFill>
                <a:schemeClr val="dk1"/>
              </a:solidFill>
            </a:endParaRPr>
          </a:p>
          <a:p>
            <a:pPr indent="-304800" lvl="0" marL="457200" rtl="0" algn="just">
              <a:lnSpc>
                <a:spcPct val="200000"/>
              </a:lnSpc>
              <a:spcBef>
                <a:spcPts val="0"/>
              </a:spcBef>
              <a:spcAft>
                <a:spcPts val="0"/>
              </a:spcAft>
              <a:buClr>
                <a:schemeClr val="dk1"/>
              </a:buClr>
              <a:buSzPts val="1200"/>
              <a:buChar char="●"/>
            </a:pPr>
            <a:r>
              <a:rPr b="1" lang="zh-TW" sz="1200">
                <a:solidFill>
                  <a:schemeClr val="dk1"/>
                </a:solidFill>
              </a:rPr>
              <a:t>Johnson will complete the relevant framework and hand it over to interns to help speed up the relevant process</a:t>
            </a:r>
            <a:endParaRPr>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5" name="Shape 225"/>
        <p:cNvGrpSpPr/>
        <p:nvPr/>
      </p:nvGrpSpPr>
      <p:grpSpPr>
        <a:xfrm>
          <a:off x="0" y="0"/>
          <a:ext cx="0" cy="0"/>
          <a:chOff x="0" y="0"/>
          <a:chExt cx="0" cy="0"/>
        </a:xfrm>
      </p:grpSpPr>
      <p:pic>
        <p:nvPicPr>
          <p:cNvPr id="226" name="Google Shape;226;p39"/>
          <p:cNvPicPr preferRelativeResize="0"/>
          <p:nvPr/>
        </p:nvPicPr>
        <p:blipFill rotWithShape="1">
          <a:blip r:embed="rId3">
            <a:alphaModFix/>
          </a:blip>
          <a:srcRect b="2789" l="1752" r="1973" t="0"/>
          <a:stretch/>
        </p:blipFill>
        <p:spPr>
          <a:xfrm>
            <a:off x="0" y="2040000"/>
            <a:ext cx="4282500" cy="2734725"/>
          </a:xfrm>
          <a:prstGeom prst="rect">
            <a:avLst/>
          </a:prstGeom>
          <a:noFill/>
          <a:ln>
            <a:noFill/>
          </a:ln>
        </p:spPr>
      </p:pic>
      <p:sp>
        <p:nvSpPr>
          <p:cNvPr id="227" name="Google Shape;227;p39"/>
          <p:cNvSpPr txBox="1"/>
          <p:nvPr/>
        </p:nvSpPr>
        <p:spPr>
          <a:xfrm>
            <a:off x="0" y="0"/>
            <a:ext cx="6787500" cy="10620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1200"/>
              </a:spcBef>
              <a:spcAft>
                <a:spcPts val="0"/>
              </a:spcAft>
              <a:buClr>
                <a:schemeClr val="dk1"/>
              </a:buClr>
              <a:buSzPts val="1800"/>
              <a:buChar char="●"/>
            </a:pPr>
            <a:r>
              <a:rPr b="1" lang="zh-TW" sz="1800">
                <a:solidFill>
                  <a:schemeClr val="dk1"/>
                </a:solidFill>
              </a:rPr>
              <a:t> Problem Definition</a:t>
            </a:r>
            <a:endParaRPr b="1" sz="1800">
              <a:solidFill>
                <a:schemeClr val="dk1"/>
              </a:solidFill>
            </a:endParaRPr>
          </a:p>
          <a:p>
            <a:pPr indent="-298450" lvl="0" marL="457200" rtl="0" algn="l">
              <a:lnSpc>
                <a:spcPct val="115000"/>
              </a:lnSpc>
              <a:spcBef>
                <a:spcPts val="0"/>
              </a:spcBef>
              <a:spcAft>
                <a:spcPts val="0"/>
              </a:spcAft>
              <a:buClr>
                <a:schemeClr val="dk1"/>
              </a:buClr>
              <a:buSzPts val="1100"/>
              <a:buChar char="●"/>
            </a:pPr>
            <a:r>
              <a:rPr b="1" lang="zh-TW" sz="1100">
                <a:solidFill>
                  <a:schemeClr val="dk1"/>
                </a:solidFill>
              </a:rPr>
              <a:t>Input</a:t>
            </a:r>
            <a:r>
              <a:rPr lang="zh-TW" sz="1100">
                <a:solidFill>
                  <a:schemeClr val="dk1"/>
                </a:solidFill>
              </a:rPr>
              <a:t>: A set of CU / DU / FH logs and the original configuration file.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zh-TW" sz="1100">
                <a:solidFill>
                  <a:schemeClr val="dk1"/>
                </a:solidFill>
              </a:rPr>
              <a:t>Objective</a:t>
            </a:r>
            <a:r>
              <a:rPr lang="zh-TW" sz="1100">
                <a:solidFill>
                  <a:schemeClr val="dk1"/>
                </a:solidFill>
              </a:rPr>
              <a:t>: Automatically generate a modified configuration file that results in successful CU/DU/RU integration.</a:t>
            </a:r>
            <a:endParaRPr sz="1100">
              <a:solidFill>
                <a:schemeClr val="dk1"/>
              </a:solidFill>
            </a:endParaRPr>
          </a:p>
        </p:txBody>
      </p:sp>
      <p:pic>
        <p:nvPicPr>
          <p:cNvPr id="228" name="Google Shape;228;p39"/>
          <p:cNvPicPr preferRelativeResize="0"/>
          <p:nvPr/>
        </p:nvPicPr>
        <p:blipFill rotWithShape="1">
          <a:blip r:embed="rId4">
            <a:alphaModFix/>
          </a:blip>
          <a:srcRect b="2785" l="738" r="836" t="5881"/>
          <a:stretch/>
        </p:blipFill>
        <p:spPr>
          <a:xfrm>
            <a:off x="4451762" y="3201000"/>
            <a:ext cx="4575238" cy="1573725"/>
          </a:xfrm>
          <a:prstGeom prst="rect">
            <a:avLst/>
          </a:prstGeom>
          <a:noFill/>
          <a:ln>
            <a:noFill/>
          </a:ln>
        </p:spPr>
      </p:pic>
      <p:sp>
        <p:nvSpPr>
          <p:cNvPr id="229" name="Google Shape;229;p39"/>
          <p:cNvSpPr txBox="1"/>
          <p:nvPr/>
        </p:nvSpPr>
        <p:spPr>
          <a:xfrm>
            <a:off x="5876875" y="2739300"/>
            <a:ext cx="1725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sz="1800">
                <a:solidFill>
                  <a:srgbClr val="FF0000"/>
                </a:solidFill>
              </a:rPr>
              <a:t>Output data</a:t>
            </a:r>
            <a:endParaRPr sz="1800">
              <a:solidFill>
                <a:srgbClr val="FF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3" name="Shape 233"/>
        <p:cNvGrpSpPr/>
        <p:nvPr/>
      </p:nvGrpSpPr>
      <p:grpSpPr>
        <a:xfrm>
          <a:off x="0" y="0"/>
          <a:ext cx="0" cy="0"/>
          <a:chOff x="0" y="0"/>
          <a:chExt cx="0" cy="0"/>
        </a:xfrm>
      </p:grpSpPr>
      <p:pic>
        <p:nvPicPr>
          <p:cNvPr id="234" name="Google Shape;234;p40"/>
          <p:cNvPicPr preferRelativeResize="0"/>
          <p:nvPr/>
        </p:nvPicPr>
        <p:blipFill rotWithShape="1">
          <a:blip r:embed="rId3">
            <a:alphaModFix/>
          </a:blip>
          <a:srcRect b="2785" l="738" r="836" t="5881"/>
          <a:stretch/>
        </p:blipFill>
        <p:spPr>
          <a:xfrm>
            <a:off x="222000" y="1290000"/>
            <a:ext cx="8699999" cy="2992500"/>
          </a:xfrm>
          <a:prstGeom prst="rect">
            <a:avLst/>
          </a:prstGeom>
          <a:noFill/>
          <a:ln>
            <a:noFill/>
          </a:ln>
        </p:spPr>
      </p:pic>
      <p:sp>
        <p:nvSpPr>
          <p:cNvPr id="235" name="Google Shape;235;p40"/>
          <p:cNvSpPr txBox="1"/>
          <p:nvPr/>
        </p:nvSpPr>
        <p:spPr>
          <a:xfrm>
            <a:off x="0" y="235775"/>
            <a:ext cx="7403100" cy="4617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b="1" lang="zh-TW" sz="1800"/>
              <a:t> SYSTEM MODEL - Output</a:t>
            </a:r>
            <a:endParaRPr b="1" sz="18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9" name="Shape 239"/>
        <p:cNvGrpSpPr/>
        <p:nvPr/>
      </p:nvGrpSpPr>
      <p:grpSpPr>
        <a:xfrm>
          <a:off x="0" y="0"/>
          <a:ext cx="0" cy="0"/>
          <a:chOff x="0" y="0"/>
          <a:chExt cx="0" cy="0"/>
        </a:xfrm>
      </p:grpSpPr>
      <p:sp>
        <p:nvSpPr>
          <p:cNvPr id="240" name="Google Shape;240;p41"/>
          <p:cNvSpPr txBox="1"/>
          <p:nvPr/>
        </p:nvSpPr>
        <p:spPr>
          <a:xfrm>
            <a:off x="0" y="235775"/>
            <a:ext cx="7403100" cy="4617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b="1" lang="zh-TW" sz="1800"/>
              <a:t> Experimental</a:t>
            </a:r>
            <a:r>
              <a:rPr b="1" lang="zh-TW" sz="1800"/>
              <a:t> Validation</a:t>
            </a:r>
            <a:endParaRPr b="1" sz="1800"/>
          </a:p>
        </p:txBody>
      </p:sp>
      <p:sp>
        <p:nvSpPr>
          <p:cNvPr id="241" name="Google Shape;241;p41"/>
          <p:cNvSpPr txBox="1"/>
          <p:nvPr/>
        </p:nvSpPr>
        <p:spPr>
          <a:xfrm>
            <a:off x="132000" y="1292700"/>
            <a:ext cx="8880000" cy="255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TW" sz="1100">
                <a:solidFill>
                  <a:schemeClr val="dk1"/>
                </a:solidFill>
              </a:rPr>
              <a:t>Test samples</a:t>
            </a:r>
            <a:r>
              <a:rPr lang="zh-TW" sz="1100">
                <a:solidFill>
                  <a:schemeClr val="dk1"/>
                </a:solidFill>
              </a:rPr>
              <a:t> include error conf, multiple log, PCAP files, covering common failure scenarios such as:</a:t>
            </a:r>
            <a:endParaRPr sz="1100">
              <a:solidFill>
                <a:schemeClr val="dk1"/>
              </a:solidFill>
            </a:endParaRPr>
          </a:p>
          <a:p>
            <a:pPr indent="-298450" lvl="0" marL="457200" rtl="0" algn="l">
              <a:spcBef>
                <a:spcPts val="0"/>
              </a:spcBef>
              <a:spcAft>
                <a:spcPts val="0"/>
              </a:spcAft>
              <a:buClr>
                <a:schemeClr val="dk1"/>
              </a:buClr>
              <a:buSzPts val="1100"/>
              <a:buChar char="●"/>
            </a:pPr>
            <a:r>
              <a:rPr lang="zh-TW" sz="1100">
                <a:solidFill>
                  <a:schemeClr val="dk1"/>
                </a:solidFill>
              </a:rPr>
              <a:t>Incorrect AMF IP configuration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zh-TW" sz="1100">
                <a:solidFill>
                  <a:schemeClr val="dk1"/>
                </a:solidFill>
              </a:rPr>
              <a:t>Cell search failures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zh-TW" sz="1100">
                <a:solidFill>
                  <a:schemeClr val="dk1"/>
                </a:solidFill>
              </a:rPr>
              <a:t>F1 setup failures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zh-TW" sz="1100">
                <a:solidFill>
                  <a:schemeClr val="dk1"/>
                </a:solidFill>
              </a:rPr>
              <a:t>……</a:t>
            </a:r>
            <a:endParaRPr sz="1100">
              <a:solidFill>
                <a:schemeClr val="dk1"/>
              </a:solidFill>
            </a:endParaRPr>
          </a:p>
          <a:p>
            <a:pPr indent="0" lvl="0" marL="0" rtl="0" algn="l">
              <a:lnSpc>
                <a:spcPct val="115000"/>
              </a:lnSpc>
              <a:spcBef>
                <a:spcPts val="1200"/>
              </a:spcBef>
              <a:spcAft>
                <a:spcPts val="0"/>
              </a:spcAft>
              <a:buNone/>
            </a:pPr>
            <a:r>
              <a:rPr b="1" lang="zh-TW" sz="1100">
                <a:solidFill>
                  <a:schemeClr val="dk1"/>
                </a:solidFill>
              </a:rPr>
              <a:t>Evaluation metrics</a:t>
            </a:r>
            <a:r>
              <a:rPr lang="zh-TW" sz="1100">
                <a:solidFill>
                  <a:schemeClr val="dk1"/>
                </a:solidFill>
              </a:rPr>
              <a:t> include the following:</a:t>
            </a:r>
            <a:endParaRPr sz="1100">
              <a:solidFill>
                <a:schemeClr val="dk1"/>
              </a:solidFill>
            </a:endParaRPr>
          </a:p>
          <a:p>
            <a:pPr indent="-298450" lvl="0" marL="457200" rtl="0" algn="l">
              <a:lnSpc>
                <a:spcPct val="115000"/>
              </a:lnSpc>
              <a:spcBef>
                <a:spcPts val="0"/>
              </a:spcBef>
              <a:spcAft>
                <a:spcPts val="0"/>
              </a:spcAft>
              <a:buClr>
                <a:srgbClr val="FF0000"/>
              </a:buClr>
              <a:buSzPts val="1100"/>
              <a:buChar char="●"/>
            </a:pPr>
            <a:r>
              <a:rPr b="1" lang="zh-TW" sz="1100">
                <a:solidFill>
                  <a:srgbClr val="FF0000"/>
                </a:solidFill>
              </a:rPr>
              <a:t>Context Relevance</a:t>
            </a:r>
            <a:r>
              <a:rPr lang="zh-TW" sz="1100">
                <a:solidFill>
                  <a:srgbClr val="FF0000"/>
                </a:solidFill>
              </a:rPr>
              <a:t>: Measures how semantically relevant the retrieved context is to the query</a:t>
            </a:r>
            <a:endParaRPr sz="1100">
              <a:solidFill>
                <a:srgbClr val="FF0000"/>
              </a:solidFill>
            </a:endParaRPr>
          </a:p>
          <a:p>
            <a:pPr indent="-298450" lvl="0" marL="457200" rtl="0" algn="l">
              <a:lnSpc>
                <a:spcPct val="115000"/>
              </a:lnSpc>
              <a:spcBef>
                <a:spcPts val="0"/>
              </a:spcBef>
              <a:spcAft>
                <a:spcPts val="0"/>
              </a:spcAft>
              <a:buClr>
                <a:srgbClr val="FF0000"/>
              </a:buClr>
              <a:buSzPts val="1100"/>
              <a:buChar char="●"/>
            </a:pPr>
            <a:r>
              <a:rPr b="1" lang="zh-TW" sz="1100">
                <a:solidFill>
                  <a:srgbClr val="FF0000"/>
                </a:solidFill>
              </a:rPr>
              <a:t>Answer Relevance</a:t>
            </a:r>
            <a:r>
              <a:rPr lang="zh-TW" sz="1100">
                <a:solidFill>
                  <a:srgbClr val="FF0000"/>
                </a:solidFill>
              </a:rPr>
              <a:t>: Measures whether the LLM’s response addresses the user's actual need</a:t>
            </a:r>
            <a:endParaRPr sz="1100">
              <a:solidFill>
                <a:srgbClr val="FF0000"/>
              </a:solidFill>
            </a:endParaRPr>
          </a:p>
          <a:p>
            <a:pPr indent="-298450" lvl="0" marL="457200" rtl="0" algn="l">
              <a:lnSpc>
                <a:spcPct val="115000"/>
              </a:lnSpc>
              <a:spcBef>
                <a:spcPts val="0"/>
              </a:spcBef>
              <a:spcAft>
                <a:spcPts val="0"/>
              </a:spcAft>
              <a:buClr>
                <a:schemeClr val="dk1"/>
              </a:buClr>
              <a:buSzPts val="1100"/>
              <a:buChar char="●"/>
            </a:pPr>
            <a:r>
              <a:rPr b="1" lang="zh-TW" sz="1100">
                <a:solidFill>
                  <a:schemeClr val="dk1"/>
                </a:solidFill>
              </a:rPr>
              <a:t>Groundedness</a:t>
            </a:r>
            <a:r>
              <a:rPr lang="zh-TW" sz="1100">
                <a:solidFill>
                  <a:schemeClr val="dk1"/>
                </a:solidFill>
              </a:rPr>
              <a:t>: Verifies whether the response is based on retrieved context rather than hallucination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zh-TW" sz="1100">
                <a:solidFill>
                  <a:schemeClr val="dk1"/>
                </a:solidFill>
              </a:rPr>
              <a:t>Other LLM evaluation criteria</a:t>
            </a:r>
            <a:r>
              <a:rPr lang="zh-TW" sz="1100">
                <a:solidFill>
                  <a:schemeClr val="dk1"/>
                </a:solidFill>
              </a:rPr>
              <a:t>, such as helpfulness, clarity, and consistency</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5" name="Shape 245"/>
        <p:cNvGrpSpPr/>
        <p:nvPr/>
      </p:nvGrpSpPr>
      <p:grpSpPr>
        <a:xfrm>
          <a:off x="0" y="0"/>
          <a:ext cx="0" cy="0"/>
          <a:chOff x="0" y="0"/>
          <a:chExt cx="0" cy="0"/>
        </a:xfrm>
      </p:grpSpPr>
      <p:pic>
        <p:nvPicPr>
          <p:cNvPr id="246" name="Google Shape;246;p42"/>
          <p:cNvPicPr preferRelativeResize="0"/>
          <p:nvPr/>
        </p:nvPicPr>
        <p:blipFill>
          <a:blip r:embed="rId3">
            <a:alphaModFix/>
          </a:blip>
          <a:stretch>
            <a:fillRect/>
          </a:stretch>
        </p:blipFill>
        <p:spPr>
          <a:xfrm>
            <a:off x="802688" y="857050"/>
            <a:ext cx="7538625" cy="4286450"/>
          </a:xfrm>
          <a:prstGeom prst="rect">
            <a:avLst/>
          </a:prstGeom>
          <a:noFill/>
          <a:ln>
            <a:noFill/>
          </a:ln>
        </p:spPr>
      </p:pic>
      <p:sp>
        <p:nvSpPr>
          <p:cNvPr id="247" name="Google Shape;247;p42"/>
          <p:cNvSpPr txBox="1"/>
          <p:nvPr/>
        </p:nvSpPr>
        <p:spPr>
          <a:xfrm>
            <a:off x="0" y="0"/>
            <a:ext cx="7935000" cy="7434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0"/>
              </a:spcBef>
              <a:spcAft>
                <a:spcPts val="0"/>
              </a:spcAft>
              <a:buClr>
                <a:schemeClr val="dk1"/>
              </a:buClr>
              <a:buSzPts val="1100"/>
              <a:buChar char="●"/>
            </a:pPr>
            <a:r>
              <a:rPr b="1" lang="zh-TW" sz="1100">
                <a:solidFill>
                  <a:schemeClr val="dk1"/>
                </a:solidFill>
              </a:rPr>
              <a:t>Comparative experiments</a:t>
            </a:r>
            <a:r>
              <a:rPr lang="zh-TW" sz="1100">
                <a:solidFill>
                  <a:schemeClr val="dk1"/>
                </a:solidFill>
              </a:rPr>
              <a:t> </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zh-TW" sz="1100">
                <a:solidFill>
                  <a:schemeClr val="dk1"/>
                </a:solidFill>
              </a:rPr>
              <a:t>show that, compared to a non-RAG LLM, our system demonstrates significantly better performance in terms of </a:t>
            </a:r>
            <a:r>
              <a:rPr b="1" lang="zh-TW" sz="1100">
                <a:solidFill>
                  <a:schemeClr val="dk1"/>
                </a:solidFill>
              </a:rPr>
              <a:t>error correction accuracy</a:t>
            </a:r>
            <a:r>
              <a:rPr lang="zh-TW" sz="1100">
                <a:solidFill>
                  <a:schemeClr val="dk1"/>
                </a:solidFill>
              </a:rPr>
              <a:t> and </a:t>
            </a:r>
            <a:r>
              <a:rPr b="1" lang="zh-TW" sz="1100">
                <a:solidFill>
                  <a:schemeClr val="dk1"/>
                </a:solidFill>
              </a:rPr>
              <a:t>response reliability</a:t>
            </a:r>
            <a:r>
              <a:rPr lang="zh-TW" sz="1100">
                <a:solidFill>
                  <a:schemeClr val="dk1"/>
                </a:solidFill>
              </a:rPr>
              <a:t>.</a:t>
            </a:r>
            <a:endParaRPr sz="110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1" name="Shape 251"/>
        <p:cNvGrpSpPr/>
        <p:nvPr/>
      </p:nvGrpSpPr>
      <p:grpSpPr>
        <a:xfrm>
          <a:off x="0" y="0"/>
          <a:ext cx="0" cy="0"/>
          <a:chOff x="0" y="0"/>
          <a:chExt cx="0" cy="0"/>
        </a:xfrm>
      </p:grpSpPr>
      <p:pic>
        <p:nvPicPr>
          <p:cNvPr id="252" name="Google Shape;252;p43"/>
          <p:cNvPicPr preferRelativeResize="0"/>
          <p:nvPr/>
        </p:nvPicPr>
        <p:blipFill rotWithShape="1">
          <a:blip r:embed="rId3">
            <a:alphaModFix/>
          </a:blip>
          <a:srcRect b="0" l="0" r="45483" t="0"/>
          <a:stretch/>
        </p:blipFill>
        <p:spPr>
          <a:xfrm>
            <a:off x="1129038" y="1355875"/>
            <a:ext cx="6885926" cy="3705125"/>
          </a:xfrm>
          <a:prstGeom prst="rect">
            <a:avLst/>
          </a:prstGeom>
          <a:noFill/>
          <a:ln>
            <a:noFill/>
          </a:ln>
        </p:spPr>
      </p:pic>
      <p:sp>
        <p:nvSpPr>
          <p:cNvPr id="253" name="Google Shape;253;p43"/>
          <p:cNvSpPr txBox="1"/>
          <p:nvPr/>
        </p:nvSpPr>
        <p:spPr>
          <a:xfrm>
            <a:off x="0" y="150000"/>
            <a:ext cx="7935000" cy="11328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0"/>
              </a:spcBef>
              <a:spcAft>
                <a:spcPts val="0"/>
              </a:spcAft>
              <a:buClr>
                <a:schemeClr val="dk1"/>
              </a:buClr>
              <a:buSzPts val="1100"/>
              <a:buChar char="●"/>
            </a:pPr>
            <a:r>
              <a:rPr b="1" lang="zh-TW" sz="1100">
                <a:solidFill>
                  <a:schemeClr val="dk1"/>
                </a:solidFill>
              </a:rPr>
              <a:t>Common Issues Without RAG Support</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zh-TW" sz="1100">
                <a:solidFill>
                  <a:schemeClr val="dk1"/>
                </a:solidFill>
              </a:rPr>
              <a:t>Hallucination errors</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zh-TW" sz="1100">
                <a:solidFill>
                  <a:schemeClr val="dk1"/>
                </a:solidFill>
              </a:rPr>
              <a:t>Incorrect suggestions</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zh-TW" sz="1100">
                <a:solidFill>
                  <a:schemeClr val="dk1"/>
                </a:solidFill>
              </a:rPr>
              <a:t>Ignoring actual log content</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zh-TW" sz="1100">
                <a:solidFill>
                  <a:schemeClr val="dk1"/>
                </a:solidFill>
              </a:rPr>
              <a:t>Invalid configuration output</a:t>
            </a:r>
            <a:endParaRPr b="1" sz="1100">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7" name="Shape 257"/>
        <p:cNvGrpSpPr/>
        <p:nvPr/>
      </p:nvGrpSpPr>
      <p:grpSpPr>
        <a:xfrm>
          <a:off x="0" y="0"/>
          <a:ext cx="0" cy="0"/>
          <a:chOff x="0" y="0"/>
          <a:chExt cx="0" cy="0"/>
        </a:xfrm>
      </p:grpSpPr>
      <p:sp>
        <p:nvSpPr>
          <p:cNvPr id="258" name="Google Shape;258;p44"/>
          <p:cNvSpPr txBox="1"/>
          <p:nvPr/>
        </p:nvSpPr>
        <p:spPr>
          <a:xfrm>
            <a:off x="0" y="920350"/>
            <a:ext cx="9144000" cy="24474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zh-TW" sz="1100">
                <a:solidFill>
                  <a:schemeClr val="dk1"/>
                </a:solidFill>
              </a:rPr>
              <a:t>Proposes an automated tool integrating LLM and RAG that analyzes logs and PCAPs to dynamically adjust configuration files for successful O-RAN (CU/DU/RU) integration.</a:t>
            </a:r>
            <a:br>
              <a:rPr lang="zh-TW" sz="1100">
                <a:solidFill>
                  <a:schemeClr val="dk1"/>
                </a:solidFill>
              </a:rPr>
            </a:br>
            <a:endParaRPr sz="1100">
              <a:solidFill>
                <a:schemeClr val="dk1"/>
              </a:solidFill>
            </a:endParaRPr>
          </a:p>
          <a:p>
            <a:pPr indent="-317500" lvl="0" marL="457200" rtl="0" algn="l">
              <a:spcBef>
                <a:spcPts val="0"/>
              </a:spcBef>
              <a:spcAft>
                <a:spcPts val="0"/>
              </a:spcAft>
              <a:buSzPts val="1400"/>
              <a:buChar char="●"/>
            </a:pPr>
            <a:r>
              <a:rPr lang="zh-TW" sz="1100">
                <a:solidFill>
                  <a:schemeClr val="dk1"/>
                </a:solidFill>
              </a:rPr>
              <a:t>The system features a full pipeline of log parsing, semantic retrieval, suggestion generation, and configuration modification, significantly reducing manual debugging efforts.</a:t>
            </a:r>
            <a:br>
              <a:rPr lang="zh-TW" sz="1100">
                <a:solidFill>
                  <a:schemeClr val="dk1"/>
                </a:solidFill>
              </a:rPr>
            </a:br>
            <a:endParaRPr sz="1100">
              <a:solidFill>
                <a:schemeClr val="dk1"/>
              </a:solidFill>
            </a:endParaRPr>
          </a:p>
          <a:p>
            <a:pPr indent="-317500" lvl="0" marL="457200" rtl="0" algn="l">
              <a:spcBef>
                <a:spcPts val="0"/>
              </a:spcBef>
              <a:spcAft>
                <a:spcPts val="0"/>
              </a:spcAft>
              <a:buSzPts val="1400"/>
              <a:buChar char="●"/>
            </a:pPr>
            <a:r>
              <a:rPr lang="zh-TW" sz="1100">
                <a:solidFill>
                  <a:schemeClr val="dk1"/>
                </a:solidFill>
              </a:rPr>
              <a:t>A core component, </a:t>
            </a:r>
            <a:r>
              <a:rPr lang="zh-TW" sz="1100">
                <a:solidFill>
                  <a:srgbClr val="188038"/>
                </a:solidFill>
                <a:latin typeface="Roboto Mono"/>
                <a:ea typeface="Roboto Mono"/>
                <a:cs typeface="Roboto Mono"/>
                <a:sym typeface="Roboto Mono"/>
              </a:rPr>
              <a:t>debug.yaml</a:t>
            </a:r>
            <a:r>
              <a:rPr lang="zh-TW" sz="1100">
                <a:solidFill>
                  <a:schemeClr val="dk1"/>
                </a:solidFill>
              </a:rPr>
              <a:t>, was developed to store structured entries including error symptoms, log snippets, related config parameters, and recommended fixes.</a:t>
            </a:r>
            <a:br>
              <a:rPr lang="zh-TW" sz="1100">
                <a:solidFill>
                  <a:schemeClr val="dk1"/>
                </a:solidFill>
              </a:rPr>
            </a:br>
            <a:endParaRPr sz="1100">
              <a:solidFill>
                <a:schemeClr val="dk1"/>
              </a:solidFill>
            </a:endParaRPr>
          </a:p>
          <a:p>
            <a:pPr indent="-317500" lvl="0" marL="457200" rtl="0" algn="l">
              <a:spcBef>
                <a:spcPts val="0"/>
              </a:spcBef>
              <a:spcAft>
                <a:spcPts val="0"/>
              </a:spcAft>
              <a:buSzPts val="1400"/>
              <a:buChar char="●"/>
            </a:pPr>
            <a:r>
              <a:rPr lang="zh-TW" sz="1100">
                <a:solidFill>
                  <a:schemeClr val="dk1"/>
                </a:solidFill>
              </a:rPr>
              <a:t>The dataset is modular and highly extensible, enabling continuous updates with new error cases and easy version maintenance.</a:t>
            </a:r>
            <a:br>
              <a:rPr lang="zh-TW" sz="1100">
                <a:solidFill>
                  <a:schemeClr val="dk1"/>
                </a:solidFill>
              </a:rPr>
            </a:br>
            <a:endParaRPr sz="1100">
              <a:solidFill>
                <a:schemeClr val="dk1"/>
              </a:solidFill>
            </a:endParaRPr>
          </a:p>
          <a:p>
            <a:pPr indent="-317500" lvl="0" marL="457200" rtl="0" algn="l">
              <a:spcBef>
                <a:spcPts val="0"/>
              </a:spcBef>
              <a:spcAft>
                <a:spcPts val="0"/>
              </a:spcAft>
              <a:buSzPts val="1400"/>
              <a:buChar char="●"/>
            </a:pPr>
            <a:r>
              <a:rPr lang="zh-TW" sz="1100">
                <a:solidFill>
                  <a:schemeClr val="dk1"/>
                </a:solidFill>
              </a:rPr>
              <a:t>Beyond retrieval, </a:t>
            </a:r>
            <a:r>
              <a:rPr lang="zh-TW" sz="1100">
                <a:solidFill>
                  <a:srgbClr val="188038"/>
                </a:solidFill>
                <a:latin typeface="Roboto Mono"/>
                <a:ea typeface="Roboto Mono"/>
                <a:cs typeface="Roboto Mono"/>
                <a:sym typeface="Roboto Mono"/>
              </a:rPr>
              <a:t>debug.yaml</a:t>
            </a:r>
            <a:r>
              <a:rPr lang="zh-TW" sz="1100">
                <a:solidFill>
                  <a:schemeClr val="dk1"/>
                </a:solidFill>
              </a:rPr>
              <a:t> functions as a knowledge repository, promoting reuse and long-term knowledge transfer.</a:t>
            </a:r>
            <a:endParaRPr/>
          </a:p>
        </p:txBody>
      </p:sp>
      <p:sp>
        <p:nvSpPr>
          <p:cNvPr id="259" name="Google Shape;259;p44"/>
          <p:cNvSpPr txBox="1"/>
          <p:nvPr/>
        </p:nvSpPr>
        <p:spPr>
          <a:xfrm>
            <a:off x="0" y="235775"/>
            <a:ext cx="7403100" cy="4617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b="1" lang="zh-TW" sz="1800"/>
              <a:t> </a:t>
            </a:r>
            <a:r>
              <a:rPr b="1" lang="zh-TW" sz="1800"/>
              <a:t>CONCLUSION </a:t>
            </a:r>
            <a:endParaRPr b="1" sz="18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3" name="Shape 263"/>
        <p:cNvGrpSpPr/>
        <p:nvPr/>
      </p:nvGrpSpPr>
      <p:grpSpPr>
        <a:xfrm>
          <a:off x="0" y="0"/>
          <a:ext cx="0" cy="0"/>
          <a:chOff x="0" y="0"/>
          <a:chExt cx="0" cy="0"/>
        </a:xfrm>
      </p:grpSpPr>
      <p:sp>
        <p:nvSpPr>
          <p:cNvPr id="264" name="Google Shape;264;p45"/>
          <p:cNvSpPr txBox="1"/>
          <p:nvPr/>
        </p:nvSpPr>
        <p:spPr>
          <a:xfrm>
            <a:off x="0" y="141450"/>
            <a:ext cx="6045000" cy="569400"/>
          </a:xfrm>
          <a:prstGeom prst="rect">
            <a:avLst/>
          </a:prstGeom>
          <a:noFill/>
          <a:ln>
            <a:noFill/>
          </a:ln>
        </p:spPr>
        <p:txBody>
          <a:bodyPr anchorCtr="0" anchor="t" bIns="91425" lIns="91425" spcFirstLastPara="1" rIns="91425" wrap="square" tIns="91425">
            <a:spAutoFit/>
          </a:bodyPr>
          <a:lstStyle/>
          <a:p>
            <a:pPr indent="-387350" lvl="0" marL="457200" rtl="0" algn="l">
              <a:lnSpc>
                <a:spcPct val="115000"/>
              </a:lnSpc>
              <a:spcBef>
                <a:spcPts val="1800"/>
              </a:spcBef>
              <a:spcAft>
                <a:spcPts val="0"/>
              </a:spcAft>
              <a:buClr>
                <a:schemeClr val="dk1"/>
              </a:buClr>
              <a:buSzPts val="2500"/>
              <a:buChar char="●"/>
            </a:pPr>
            <a:r>
              <a:rPr b="1" lang="zh-TW" sz="2500">
                <a:solidFill>
                  <a:schemeClr val="dk1"/>
                </a:solidFill>
              </a:rPr>
              <a:t>Future work - RAG Improvements</a:t>
            </a:r>
            <a:endParaRPr b="1" sz="2500">
              <a:solidFill>
                <a:schemeClr val="dk1"/>
              </a:solidFill>
            </a:endParaRPr>
          </a:p>
        </p:txBody>
      </p:sp>
      <p:pic>
        <p:nvPicPr>
          <p:cNvPr id="265" name="Google Shape;265;p45"/>
          <p:cNvPicPr preferRelativeResize="0"/>
          <p:nvPr/>
        </p:nvPicPr>
        <p:blipFill rotWithShape="1">
          <a:blip r:embed="rId3">
            <a:alphaModFix/>
          </a:blip>
          <a:srcRect b="4689" l="0" r="0" t="0"/>
          <a:stretch/>
        </p:blipFill>
        <p:spPr>
          <a:xfrm>
            <a:off x="3840000" y="710850"/>
            <a:ext cx="5242500" cy="4329150"/>
          </a:xfrm>
          <a:prstGeom prst="rect">
            <a:avLst/>
          </a:prstGeom>
          <a:noFill/>
          <a:ln>
            <a:noFill/>
          </a:ln>
        </p:spPr>
      </p:pic>
      <p:sp>
        <p:nvSpPr>
          <p:cNvPr id="266" name="Google Shape;266;p45"/>
          <p:cNvSpPr txBox="1"/>
          <p:nvPr/>
        </p:nvSpPr>
        <p:spPr>
          <a:xfrm>
            <a:off x="0" y="1301625"/>
            <a:ext cx="3840000" cy="3147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zh-TW" sz="1000">
                <a:solidFill>
                  <a:schemeClr val="dk1"/>
                </a:solidFill>
              </a:rPr>
              <a:t>Upgrade the </a:t>
            </a:r>
            <a:r>
              <a:rPr b="1" lang="zh-TW" sz="1000">
                <a:solidFill>
                  <a:schemeClr val="dk1"/>
                </a:solidFill>
              </a:rPr>
              <a:t>Naive RAG</a:t>
            </a:r>
            <a:r>
              <a:rPr lang="zh-TW" sz="1000">
                <a:solidFill>
                  <a:schemeClr val="dk1"/>
                </a:solidFill>
              </a:rPr>
              <a:t> (simple embedding-based retrieval with context concatenation) to </a:t>
            </a:r>
            <a:r>
              <a:rPr b="1" lang="zh-TW" sz="1000">
                <a:solidFill>
                  <a:schemeClr val="dk1"/>
                </a:solidFill>
              </a:rPr>
              <a:t>Advanced RAG</a:t>
            </a:r>
            <a:r>
              <a:rPr lang="zh-TW" sz="1000">
                <a:solidFill>
                  <a:schemeClr val="dk1"/>
                </a:solidFill>
              </a:rPr>
              <a:t>, such as:</a:t>
            </a:r>
            <a:endParaRPr sz="1000">
              <a:solidFill>
                <a:schemeClr val="dk1"/>
              </a:solidFill>
            </a:endParaRPr>
          </a:p>
          <a:p>
            <a:pPr indent="-292100" lvl="0" marL="457200" rtl="0" algn="l">
              <a:lnSpc>
                <a:spcPct val="115000"/>
              </a:lnSpc>
              <a:spcBef>
                <a:spcPts val="1200"/>
              </a:spcBef>
              <a:spcAft>
                <a:spcPts val="0"/>
              </a:spcAft>
              <a:buClr>
                <a:schemeClr val="dk1"/>
              </a:buClr>
              <a:buSzPts val="1000"/>
              <a:buChar char="●"/>
            </a:pPr>
            <a:r>
              <a:rPr b="1" lang="zh-TW" sz="1000">
                <a:solidFill>
                  <a:schemeClr val="dk1"/>
                </a:solidFill>
              </a:rPr>
              <a:t>Multi-stage retrieval</a:t>
            </a:r>
            <a:r>
              <a:rPr lang="zh-TW" sz="1000">
                <a:solidFill>
                  <a:schemeClr val="dk1"/>
                </a:solidFill>
              </a:rPr>
              <a:t>: Coarse-to-fine filtering using an initial retriever followed by a reranker</a:t>
            </a:r>
            <a:endParaRPr sz="1000">
              <a:solidFill>
                <a:schemeClr val="dk1"/>
              </a:solidFill>
            </a:endParaRPr>
          </a:p>
          <a:p>
            <a:pPr indent="-292100" lvl="0" marL="457200" rtl="0" algn="l">
              <a:lnSpc>
                <a:spcPct val="115000"/>
              </a:lnSpc>
              <a:spcBef>
                <a:spcPts val="0"/>
              </a:spcBef>
              <a:spcAft>
                <a:spcPts val="0"/>
              </a:spcAft>
              <a:buClr>
                <a:srgbClr val="FF0000"/>
              </a:buClr>
              <a:buSzPts val="1000"/>
              <a:buChar char="●"/>
            </a:pPr>
            <a:r>
              <a:rPr b="1" lang="zh-TW" sz="1000">
                <a:solidFill>
                  <a:srgbClr val="FF0000"/>
                </a:solidFill>
              </a:rPr>
              <a:t>Chunk filtering and dynamic length adjustment</a:t>
            </a:r>
            <a:r>
              <a:rPr lang="zh-TW" sz="1000">
                <a:solidFill>
                  <a:srgbClr val="FF0000"/>
                </a:solidFill>
              </a:rPr>
              <a:t>: Select optimal context length and granularity based on query semantics</a:t>
            </a:r>
            <a:endParaRPr sz="1000">
              <a:solidFill>
                <a:srgbClr val="FF0000"/>
              </a:solidFill>
            </a:endParaRPr>
          </a:p>
          <a:p>
            <a:pPr indent="-292100" lvl="0" marL="457200" rtl="0" algn="l">
              <a:lnSpc>
                <a:spcPct val="115000"/>
              </a:lnSpc>
              <a:spcBef>
                <a:spcPts val="0"/>
              </a:spcBef>
              <a:spcAft>
                <a:spcPts val="0"/>
              </a:spcAft>
              <a:buClr>
                <a:schemeClr val="dk1"/>
              </a:buClr>
              <a:buSzPts val="1000"/>
              <a:buChar char="●"/>
            </a:pPr>
            <a:r>
              <a:rPr b="1" lang="zh-TW" sz="1000">
                <a:solidFill>
                  <a:schemeClr val="dk1"/>
                </a:solidFill>
              </a:rPr>
              <a:t>Multi-source fusion</a:t>
            </a:r>
            <a:r>
              <a:rPr lang="zh-TW" sz="1000">
                <a:solidFill>
                  <a:schemeClr val="dk1"/>
                </a:solidFill>
              </a:rPr>
              <a:t>: Combine multiple types of inputs (logs, config files, PCAPs) for richer contextual grounding</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zh-TW" sz="1000">
                <a:solidFill>
                  <a:schemeClr val="dk1"/>
                </a:solidFill>
              </a:rPr>
              <a:t>Structure-guided generation</a:t>
            </a:r>
            <a:r>
              <a:rPr lang="zh-TW" sz="1000">
                <a:solidFill>
                  <a:schemeClr val="dk1"/>
                </a:solidFill>
              </a:rPr>
              <a:t>: Inject configuration schema (e.g., YAML, JSON trees) to guide LLM response</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zh-TW" sz="1000">
                <a:solidFill>
                  <a:schemeClr val="dk1"/>
                </a:solidFill>
              </a:rPr>
              <a:t>Retrieval-conditioned decoding</a:t>
            </a:r>
            <a:r>
              <a:rPr lang="zh-TW" sz="1000">
                <a:solidFill>
                  <a:schemeClr val="dk1"/>
                </a:solidFill>
              </a:rPr>
              <a:t>: Use retrieved snippets as control prompts to steer generation toward factual relevance</a:t>
            </a:r>
            <a:endParaRPr sz="1000">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0" name="Shape 270"/>
        <p:cNvGrpSpPr/>
        <p:nvPr/>
      </p:nvGrpSpPr>
      <p:grpSpPr>
        <a:xfrm>
          <a:off x="0" y="0"/>
          <a:ext cx="0" cy="0"/>
          <a:chOff x="0" y="0"/>
          <a:chExt cx="0" cy="0"/>
        </a:xfrm>
      </p:grpSpPr>
      <p:sp>
        <p:nvSpPr>
          <p:cNvPr id="271" name="Google Shape;271;p46"/>
          <p:cNvSpPr txBox="1"/>
          <p:nvPr/>
        </p:nvSpPr>
        <p:spPr>
          <a:xfrm>
            <a:off x="0" y="141450"/>
            <a:ext cx="6045000" cy="569400"/>
          </a:xfrm>
          <a:prstGeom prst="rect">
            <a:avLst/>
          </a:prstGeom>
          <a:noFill/>
          <a:ln>
            <a:noFill/>
          </a:ln>
        </p:spPr>
        <p:txBody>
          <a:bodyPr anchorCtr="0" anchor="t" bIns="91425" lIns="91425" spcFirstLastPara="1" rIns="91425" wrap="square" tIns="91425">
            <a:spAutoFit/>
          </a:bodyPr>
          <a:lstStyle/>
          <a:p>
            <a:pPr indent="-387350" lvl="0" marL="457200" rtl="0" algn="l">
              <a:lnSpc>
                <a:spcPct val="115000"/>
              </a:lnSpc>
              <a:spcBef>
                <a:spcPts val="1800"/>
              </a:spcBef>
              <a:spcAft>
                <a:spcPts val="0"/>
              </a:spcAft>
              <a:buClr>
                <a:schemeClr val="dk1"/>
              </a:buClr>
              <a:buSzPts val="2500"/>
              <a:buChar char="●"/>
            </a:pPr>
            <a:r>
              <a:rPr b="1" lang="zh-TW" sz="2500">
                <a:solidFill>
                  <a:schemeClr val="dk1"/>
                </a:solidFill>
              </a:rPr>
              <a:t>Future work - SFT</a:t>
            </a:r>
            <a:endParaRPr b="1" sz="2500">
              <a:solidFill>
                <a:schemeClr val="dk1"/>
              </a:solidFill>
            </a:endParaRPr>
          </a:p>
        </p:txBody>
      </p:sp>
      <p:sp>
        <p:nvSpPr>
          <p:cNvPr id="272" name="Google Shape;272;p46"/>
          <p:cNvSpPr txBox="1"/>
          <p:nvPr/>
        </p:nvSpPr>
        <p:spPr>
          <a:xfrm>
            <a:off x="522725" y="710850"/>
            <a:ext cx="4539900" cy="2955300"/>
          </a:xfrm>
          <a:prstGeom prst="rect">
            <a:avLst/>
          </a:prstGeom>
          <a:noFill/>
          <a:ln>
            <a:noFill/>
          </a:ln>
        </p:spPr>
        <p:txBody>
          <a:bodyPr anchorCtr="0" anchor="t" bIns="91425" lIns="91425" spcFirstLastPara="1" rIns="91425" wrap="square" tIns="91425">
            <a:spAutoFit/>
          </a:bodyPr>
          <a:lstStyle/>
          <a:p>
            <a:pPr indent="-342900" lvl="0" marL="457200" rtl="0" algn="just">
              <a:lnSpc>
                <a:spcPct val="150000"/>
              </a:lnSpc>
              <a:spcBef>
                <a:spcPts val="0"/>
              </a:spcBef>
              <a:spcAft>
                <a:spcPts val="0"/>
              </a:spcAft>
              <a:buSzPts val="1800"/>
              <a:buFont typeface="Microsoft JhengHei"/>
              <a:buChar char="●"/>
            </a:pPr>
            <a:r>
              <a:rPr b="1" lang="zh-TW" sz="1800">
                <a:latin typeface="Microsoft JhengHei"/>
                <a:ea typeface="Microsoft JhengHei"/>
                <a:cs typeface="Microsoft JhengHei"/>
                <a:sym typeface="Microsoft JhengHei"/>
              </a:rPr>
              <a:t>Model : LLaMa-1B</a:t>
            </a:r>
            <a:endParaRPr b="1" sz="1800">
              <a:latin typeface="Microsoft JhengHei"/>
              <a:ea typeface="Microsoft JhengHei"/>
              <a:cs typeface="Microsoft JhengHei"/>
              <a:sym typeface="Microsoft JhengHei"/>
            </a:endParaRPr>
          </a:p>
          <a:p>
            <a:pPr indent="-342900" lvl="0" marL="457200" rtl="0" algn="just">
              <a:lnSpc>
                <a:spcPct val="150000"/>
              </a:lnSpc>
              <a:spcBef>
                <a:spcPts val="0"/>
              </a:spcBef>
              <a:spcAft>
                <a:spcPts val="0"/>
              </a:spcAft>
              <a:buSzPts val="1800"/>
              <a:buFont typeface="Microsoft JhengHei"/>
              <a:buChar char="●"/>
            </a:pPr>
            <a:r>
              <a:rPr b="1" lang="zh-TW" sz="1800">
                <a:latin typeface="Microsoft JhengHei"/>
                <a:ea typeface="Microsoft JhengHei"/>
                <a:cs typeface="Microsoft JhengHei"/>
                <a:sym typeface="Microsoft JhengHei"/>
              </a:rPr>
              <a:t>GPU resource : NIV ?</a:t>
            </a:r>
            <a:endParaRPr b="1" sz="1800">
              <a:latin typeface="Microsoft JhengHei"/>
              <a:ea typeface="Microsoft JhengHei"/>
              <a:cs typeface="Microsoft JhengHei"/>
              <a:sym typeface="Microsoft JhengHei"/>
            </a:endParaRPr>
          </a:p>
          <a:p>
            <a:pPr indent="-342900" lvl="0" marL="457200" rtl="0" algn="just">
              <a:lnSpc>
                <a:spcPct val="150000"/>
              </a:lnSpc>
              <a:spcBef>
                <a:spcPts val="0"/>
              </a:spcBef>
              <a:spcAft>
                <a:spcPts val="0"/>
              </a:spcAft>
              <a:buSzPts val="1800"/>
              <a:buFont typeface="Microsoft JhengHei"/>
              <a:buChar char="●"/>
            </a:pPr>
            <a:r>
              <a:rPr b="1" lang="zh-TW" sz="1800">
                <a:latin typeface="Microsoft JhengHei"/>
                <a:ea typeface="Microsoft JhengHei"/>
                <a:cs typeface="Microsoft JhengHei"/>
                <a:sym typeface="Microsoft JhengHei"/>
              </a:rPr>
              <a:t>Method ?</a:t>
            </a:r>
            <a:endParaRPr b="1" sz="1800">
              <a:latin typeface="Microsoft JhengHei"/>
              <a:ea typeface="Microsoft JhengHei"/>
              <a:cs typeface="Microsoft JhengHei"/>
              <a:sym typeface="Microsoft JhengHei"/>
            </a:endParaRPr>
          </a:p>
          <a:p>
            <a:pPr indent="-342900" lvl="1" marL="914400" rtl="0" algn="just">
              <a:lnSpc>
                <a:spcPct val="150000"/>
              </a:lnSpc>
              <a:spcBef>
                <a:spcPts val="0"/>
              </a:spcBef>
              <a:spcAft>
                <a:spcPts val="0"/>
              </a:spcAft>
              <a:buSzPts val="1800"/>
              <a:buFont typeface="Microsoft JhengHei"/>
              <a:buChar char="○"/>
            </a:pPr>
            <a:r>
              <a:rPr b="1" lang="zh-TW" sz="1800">
                <a:latin typeface="Microsoft JhengHei"/>
                <a:ea typeface="Microsoft JhengHei"/>
                <a:cs typeface="Microsoft JhengHei"/>
                <a:sym typeface="Microsoft JhengHei"/>
              </a:rPr>
              <a:t>LoRA</a:t>
            </a:r>
            <a:endParaRPr b="1" sz="1800">
              <a:latin typeface="Microsoft JhengHei"/>
              <a:ea typeface="Microsoft JhengHei"/>
              <a:cs typeface="Microsoft JhengHei"/>
              <a:sym typeface="Microsoft JhengHei"/>
            </a:endParaRPr>
          </a:p>
          <a:p>
            <a:pPr indent="-342900" lvl="1" marL="914400" rtl="0" algn="just">
              <a:lnSpc>
                <a:spcPct val="150000"/>
              </a:lnSpc>
              <a:spcBef>
                <a:spcPts val="0"/>
              </a:spcBef>
              <a:spcAft>
                <a:spcPts val="0"/>
              </a:spcAft>
              <a:buSzPts val="1800"/>
              <a:buFont typeface="Microsoft JhengHei"/>
              <a:buChar char="○"/>
            </a:pPr>
            <a:r>
              <a:rPr b="1" lang="zh-TW" sz="1800">
                <a:latin typeface="Microsoft JhengHei"/>
                <a:ea typeface="Microsoft JhengHei"/>
                <a:cs typeface="Microsoft JhengHei"/>
                <a:sym typeface="Microsoft JhengHei"/>
              </a:rPr>
              <a:t>P-tuning v2</a:t>
            </a:r>
            <a:endParaRPr b="1" sz="1800">
              <a:latin typeface="Microsoft JhengHei"/>
              <a:ea typeface="Microsoft JhengHei"/>
              <a:cs typeface="Microsoft JhengHei"/>
              <a:sym typeface="Microsoft JhengHei"/>
            </a:endParaRPr>
          </a:p>
          <a:p>
            <a:pPr indent="-342900" lvl="1" marL="914400" rtl="0" algn="just">
              <a:lnSpc>
                <a:spcPct val="150000"/>
              </a:lnSpc>
              <a:spcBef>
                <a:spcPts val="0"/>
              </a:spcBef>
              <a:spcAft>
                <a:spcPts val="0"/>
              </a:spcAft>
              <a:buSzPts val="1800"/>
              <a:buFont typeface="Microsoft JhengHei"/>
              <a:buChar char="○"/>
            </a:pPr>
            <a:r>
              <a:rPr b="1" lang="zh-TW" sz="1800">
                <a:latin typeface="Microsoft JhengHei"/>
                <a:ea typeface="Microsoft JhengHei"/>
                <a:cs typeface="Microsoft JhengHei"/>
                <a:sym typeface="Microsoft JhengHei"/>
              </a:rPr>
              <a:t>Freeze</a:t>
            </a:r>
            <a:endParaRPr b="1" sz="1800">
              <a:latin typeface="Microsoft JhengHei"/>
              <a:ea typeface="Microsoft JhengHei"/>
              <a:cs typeface="Microsoft JhengHei"/>
              <a:sym typeface="Microsoft JhengHei"/>
            </a:endParaRPr>
          </a:p>
          <a:p>
            <a:pPr indent="-342900" lvl="0" marL="457200" rtl="0" algn="just">
              <a:lnSpc>
                <a:spcPct val="150000"/>
              </a:lnSpc>
              <a:spcBef>
                <a:spcPts val="0"/>
              </a:spcBef>
              <a:spcAft>
                <a:spcPts val="0"/>
              </a:spcAft>
              <a:buSzPts val="1800"/>
              <a:buFont typeface="Microsoft JhengHei"/>
              <a:buChar char="●"/>
            </a:pPr>
            <a:r>
              <a:rPr b="1" lang="zh-TW" sz="1800">
                <a:latin typeface="Microsoft JhengHei"/>
                <a:ea typeface="Microsoft JhengHei"/>
                <a:cs typeface="Microsoft JhengHei"/>
                <a:sym typeface="Microsoft JhengHei"/>
              </a:rPr>
              <a:t>Training data : 1000</a:t>
            </a:r>
            <a:endParaRPr b="1" sz="1800">
              <a:latin typeface="Microsoft JhengHei"/>
              <a:ea typeface="Microsoft JhengHei"/>
              <a:cs typeface="Microsoft JhengHei"/>
              <a:sym typeface="Microsoft JhengHe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6" name="Shape 276"/>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0" name="Shape 280"/>
        <p:cNvGrpSpPr/>
        <p:nvPr/>
      </p:nvGrpSpPr>
      <p:grpSpPr>
        <a:xfrm>
          <a:off x="0" y="0"/>
          <a:ext cx="0" cy="0"/>
          <a:chOff x="0" y="0"/>
          <a:chExt cx="0" cy="0"/>
        </a:xfrm>
      </p:grpSpPr>
      <p:sp>
        <p:nvSpPr>
          <p:cNvPr id="281" name="Google Shape;281;p48"/>
          <p:cNvSpPr txBox="1"/>
          <p:nvPr/>
        </p:nvSpPr>
        <p:spPr>
          <a:xfrm>
            <a:off x="0" y="920350"/>
            <a:ext cx="9144000" cy="24474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zh-TW" sz="1100">
                <a:solidFill>
                  <a:schemeClr val="dk1"/>
                </a:solidFill>
              </a:rPr>
              <a:t>Proposes an automated tool integrating LLM and RAG that analyzes logs and PCAPs to dynamically adjust configuration files for successful O-RAN (CU/DU/RU) integration.</a:t>
            </a:r>
            <a:br>
              <a:rPr lang="zh-TW" sz="1100">
                <a:solidFill>
                  <a:schemeClr val="dk1"/>
                </a:solidFill>
              </a:rPr>
            </a:br>
            <a:endParaRPr sz="1100">
              <a:solidFill>
                <a:schemeClr val="dk1"/>
              </a:solidFill>
            </a:endParaRPr>
          </a:p>
          <a:p>
            <a:pPr indent="-317500" lvl="0" marL="457200" rtl="0" algn="l">
              <a:spcBef>
                <a:spcPts val="0"/>
              </a:spcBef>
              <a:spcAft>
                <a:spcPts val="0"/>
              </a:spcAft>
              <a:buSzPts val="1400"/>
              <a:buChar char="●"/>
            </a:pPr>
            <a:r>
              <a:rPr lang="zh-TW" sz="1100">
                <a:solidFill>
                  <a:schemeClr val="dk1"/>
                </a:solidFill>
              </a:rPr>
              <a:t>The system features a full pipeline of log parsing, semantic retrieval, suggestion generation, and configuration modification, significantly reducing manual debugging efforts.</a:t>
            </a:r>
            <a:br>
              <a:rPr lang="zh-TW" sz="1100">
                <a:solidFill>
                  <a:schemeClr val="dk1"/>
                </a:solidFill>
              </a:rPr>
            </a:br>
            <a:endParaRPr sz="1100">
              <a:solidFill>
                <a:schemeClr val="dk1"/>
              </a:solidFill>
            </a:endParaRPr>
          </a:p>
          <a:p>
            <a:pPr indent="-317500" lvl="0" marL="457200" rtl="0" algn="l">
              <a:spcBef>
                <a:spcPts val="0"/>
              </a:spcBef>
              <a:spcAft>
                <a:spcPts val="0"/>
              </a:spcAft>
              <a:buSzPts val="1400"/>
              <a:buChar char="●"/>
            </a:pPr>
            <a:r>
              <a:rPr lang="zh-TW" sz="1100">
                <a:solidFill>
                  <a:schemeClr val="dk1"/>
                </a:solidFill>
              </a:rPr>
              <a:t>A core component, </a:t>
            </a:r>
            <a:r>
              <a:rPr lang="zh-TW" sz="1100">
                <a:solidFill>
                  <a:srgbClr val="188038"/>
                </a:solidFill>
                <a:latin typeface="Roboto Mono"/>
                <a:ea typeface="Roboto Mono"/>
                <a:cs typeface="Roboto Mono"/>
                <a:sym typeface="Roboto Mono"/>
              </a:rPr>
              <a:t>debug.yaml</a:t>
            </a:r>
            <a:r>
              <a:rPr lang="zh-TW" sz="1100">
                <a:solidFill>
                  <a:schemeClr val="dk1"/>
                </a:solidFill>
              </a:rPr>
              <a:t>, was developed to store structured entries including error symptoms, log snippets, related config parameters, and recommended fixes.</a:t>
            </a:r>
            <a:br>
              <a:rPr lang="zh-TW" sz="1100">
                <a:solidFill>
                  <a:schemeClr val="dk1"/>
                </a:solidFill>
              </a:rPr>
            </a:br>
            <a:endParaRPr sz="1100">
              <a:solidFill>
                <a:schemeClr val="dk1"/>
              </a:solidFill>
            </a:endParaRPr>
          </a:p>
          <a:p>
            <a:pPr indent="-317500" lvl="0" marL="457200" rtl="0" algn="l">
              <a:spcBef>
                <a:spcPts val="0"/>
              </a:spcBef>
              <a:spcAft>
                <a:spcPts val="0"/>
              </a:spcAft>
              <a:buSzPts val="1400"/>
              <a:buChar char="●"/>
            </a:pPr>
            <a:r>
              <a:rPr lang="zh-TW" sz="1100">
                <a:solidFill>
                  <a:schemeClr val="dk1"/>
                </a:solidFill>
              </a:rPr>
              <a:t>The dataset is modular and highly extensible, enabling continuous updates with new error cases and easy version maintenance.</a:t>
            </a:r>
            <a:br>
              <a:rPr lang="zh-TW" sz="1100">
                <a:solidFill>
                  <a:schemeClr val="dk1"/>
                </a:solidFill>
              </a:rPr>
            </a:br>
            <a:endParaRPr sz="1100">
              <a:solidFill>
                <a:schemeClr val="dk1"/>
              </a:solidFill>
            </a:endParaRPr>
          </a:p>
          <a:p>
            <a:pPr indent="-317500" lvl="0" marL="457200" rtl="0" algn="l">
              <a:spcBef>
                <a:spcPts val="0"/>
              </a:spcBef>
              <a:spcAft>
                <a:spcPts val="0"/>
              </a:spcAft>
              <a:buSzPts val="1400"/>
              <a:buChar char="●"/>
            </a:pPr>
            <a:r>
              <a:rPr lang="zh-TW" sz="1100">
                <a:solidFill>
                  <a:schemeClr val="dk1"/>
                </a:solidFill>
              </a:rPr>
              <a:t>Beyond retrieval, </a:t>
            </a:r>
            <a:r>
              <a:rPr lang="zh-TW" sz="1100">
                <a:solidFill>
                  <a:srgbClr val="188038"/>
                </a:solidFill>
                <a:latin typeface="Roboto Mono"/>
                <a:ea typeface="Roboto Mono"/>
                <a:cs typeface="Roboto Mono"/>
                <a:sym typeface="Roboto Mono"/>
              </a:rPr>
              <a:t>debug.yaml</a:t>
            </a:r>
            <a:r>
              <a:rPr lang="zh-TW" sz="1100">
                <a:solidFill>
                  <a:schemeClr val="dk1"/>
                </a:solidFill>
              </a:rPr>
              <a:t> functions as a knowledge repository, promoting reuse and long-term knowledge transfer.</a:t>
            </a:r>
            <a:endParaRPr/>
          </a:p>
        </p:txBody>
      </p:sp>
      <p:sp>
        <p:nvSpPr>
          <p:cNvPr id="282" name="Google Shape;282;p48"/>
          <p:cNvSpPr txBox="1"/>
          <p:nvPr/>
        </p:nvSpPr>
        <p:spPr>
          <a:xfrm>
            <a:off x="0" y="235775"/>
            <a:ext cx="7403100" cy="507900"/>
          </a:xfrm>
          <a:prstGeom prst="rect">
            <a:avLst/>
          </a:prstGeom>
          <a:noFill/>
          <a:ln>
            <a:noFill/>
          </a:ln>
        </p:spPr>
        <p:txBody>
          <a:bodyPr anchorCtr="0" anchor="t" bIns="91425" lIns="91425" spcFirstLastPara="1" rIns="91425" wrap="square" tIns="91425">
            <a:spAutoFit/>
          </a:bodyPr>
          <a:lstStyle/>
          <a:p>
            <a:pPr indent="-361950" lvl="0" marL="457200" rtl="0" algn="l">
              <a:spcBef>
                <a:spcPts val="0"/>
              </a:spcBef>
              <a:spcAft>
                <a:spcPts val="0"/>
              </a:spcAft>
              <a:buSzPts val="2100"/>
              <a:buChar char="●"/>
            </a:pPr>
            <a:r>
              <a:rPr b="1" lang="zh-TW" sz="2100"/>
              <a:t> </a:t>
            </a:r>
            <a:r>
              <a:rPr lang="zh-TW" sz="2100">
                <a:solidFill>
                  <a:schemeClr val="dk1"/>
                </a:solidFill>
              </a:rPr>
              <a:t> What's your target?</a:t>
            </a:r>
            <a:endParaRPr b="1" sz="21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6" name="Shape 286"/>
        <p:cNvGrpSpPr/>
        <p:nvPr/>
      </p:nvGrpSpPr>
      <p:grpSpPr>
        <a:xfrm>
          <a:off x="0" y="0"/>
          <a:ext cx="0" cy="0"/>
          <a:chOff x="0" y="0"/>
          <a:chExt cx="0" cy="0"/>
        </a:xfrm>
      </p:grpSpPr>
      <p:pic>
        <p:nvPicPr>
          <p:cNvPr id="287" name="Google Shape;287;p49"/>
          <p:cNvPicPr preferRelativeResize="0"/>
          <p:nvPr/>
        </p:nvPicPr>
        <p:blipFill>
          <a:blip r:embed="rId3">
            <a:alphaModFix/>
          </a:blip>
          <a:stretch>
            <a:fillRect/>
          </a:stretch>
        </p:blipFill>
        <p:spPr>
          <a:xfrm>
            <a:off x="802688" y="857050"/>
            <a:ext cx="7538625" cy="4286450"/>
          </a:xfrm>
          <a:prstGeom prst="rect">
            <a:avLst/>
          </a:prstGeom>
          <a:noFill/>
          <a:ln>
            <a:noFill/>
          </a:ln>
        </p:spPr>
      </p:pic>
      <p:sp>
        <p:nvSpPr>
          <p:cNvPr id="288" name="Google Shape;288;p49"/>
          <p:cNvSpPr txBox="1"/>
          <p:nvPr/>
        </p:nvSpPr>
        <p:spPr>
          <a:xfrm>
            <a:off x="0" y="0"/>
            <a:ext cx="7935000" cy="7434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0"/>
              </a:spcBef>
              <a:spcAft>
                <a:spcPts val="0"/>
              </a:spcAft>
              <a:buClr>
                <a:schemeClr val="dk1"/>
              </a:buClr>
              <a:buSzPts val="1100"/>
              <a:buChar char="●"/>
            </a:pPr>
            <a:r>
              <a:rPr b="1" lang="zh-TW" sz="1100">
                <a:solidFill>
                  <a:schemeClr val="dk1"/>
                </a:solidFill>
              </a:rPr>
              <a:t>Comparative experiments</a:t>
            </a:r>
            <a:r>
              <a:rPr lang="zh-TW" sz="1100">
                <a:solidFill>
                  <a:schemeClr val="dk1"/>
                </a:solidFill>
              </a:rPr>
              <a:t> </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zh-TW" sz="1100">
                <a:solidFill>
                  <a:schemeClr val="dk1"/>
                </a:solidFill>
              </a:rPr>
              <a:t>show that, compared to a non-RAG LLM, our system demonstrates significantly better performance in terms of </a:t>
            </a:r>
            <a:r>
              <a:rPr b="1" lang="zh-TW" sz="1100">
                <a:solidFill>
                  <a:schemeClr val="dk1"/>
                </a:solidFill>
              </a:rPr>
              <a:t>error correction accuracy</a:t>
            </a:r>
            <a:r>
              <a:rPr lang="zh-TW" sz="1100">
                <a:solidFill>
                  <a:schemeClr val="dk1"/>
                </a:solidFill>
              </a:rPr>
              <a:t> and </a:t>
            </a:r>
            <a:r>
              <a:rPr b="1" lang="zh-TW" sz="1100">
                <a:solidFill>
                  <a:schemeClr val="dk1"/>
                </a:solidFill>
              </a:rPr>
              <a:t>response reliability</a:t>
            </a:r>
            <a:r>
              <a:rPr lang="zh-TW" sz="1100">
                <a:solidFill>
                  <a:schemeClr val="dk1"/>
                </a:solidFill>
              </a:rPr>
              <a:t>.</a:t>
            </a:r>
            <a:endParaRPr sz="1100">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2" name="Shape 292"/>
        <p:cNvGrpSpPr/>
        <p:nvPr/>
      </p:nvGrpSpPr>
      <p:grpSpPr>
        <a:xfrm>
          <a:off x="0" y="0"/>
          <a:ext cx="0" cy="0"/>
          <a:chOff x="0" y="0"/>
          <a:chExt cx="0" cy="0"/>
        </a:xfrm>
      </p:grpSpPr>
      <p:pic>
        <p:nvPicPr>
          <p:cNvPr id="293" name="Google Shape;293;p50"/>
          <p:cNvPicPr preferRelativeResize="0"/>
          <p:nvPr/>
        </p:nvPicPr>
        <p:blipFill rotWithShape="1">
          <a:blip r:embed="rId3">
            <a:alphaModFix/>
          </a:blip>
          <a:srcRect b="0" l="0" r="45483" t="0"/>
          <a:stretch/>
        </p:blipFill>
        <p:spPr>
          <a:xfrm>
            <a:off x="1129038" y="1355875"/>
            <a:ext cx="6885926" cy="3705125"/>
          </a:xfrm>
          <a:prstGeom prst="rect">
            <a:avLst/>
          </a:prstGeom>
          <a:noFill/>
          <a:ln>
            <a:noFill/>
          </a:ln>
        </p:spPr>
      </p:pic>
      <p:sp>
        <p:nvSpPr>
          <p:cNvPr id="294" name="Google Shape;294;p50"/>
          <p:cNvSpPr txBox="1"/>
          <p:nvPr/>
        </p:nvSpPr>
        <p:spPr>
          <a:xfrm>
            <a:off x="0" y="150000"/>
            <a:ext cx="7935000" cy="11328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0"/>
              </a:spcBef>
              <a:spcAft>
                <a:spcPts val="0"/>
              </a:spcAft>
              <a:buClr>
                <a:schemeClr val="dk1"/>
              </a:buClr>
              <a:buSzPts val="1100"/>
              <a:buChar char="●"/>
            </a:pPr>
            <a:r>
              <a:rPr b="1" lang="zh-TW" sz="1100">
                <a:solidFill>
                  <a:schemeClr val="dk1"/>
                </a:solidFill>
              </a:rPr>
              <a:t>Common Issues Without RAG Support</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zh-TW" sz="1100">
                <a:solidFill>
                  <a:schemeClr val="dk1"/>
                </a:solidFill>
              </a:rPr>
              <a:t>Hallucination errors</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zh-TW" sz="1100">
                <a:solidFill>
                  <a:schemeClr val="dk1"/>
                </a:solidFill>
              </a:rPr>
              <a:t>Incorrect suggestions</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zh-TW" sz="1100">
                <a:solidFill>
                  <a:schemeClr val="dk1"/>
                </a:solidFill>
              </a:rPr>
              <a:t>Ignoring actual log content</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zh-TW" sz="1100">
                <a:solidFill>
                  <a:schemeClr val="dk1"/>
                </a:solidFill>
              </a:rPr>
              <a:t>Invalid configuration output</a:t>
            </a:r>
            <a:endParaRPr b="1" sz="1100">
              <a:solidFill>
                <a:schemeClr val="dk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8" name="Shape 298"/>
        <p:cNvGrpSpPr/>
        <p:nvPr/>
      </p:nvGrpSpPr>
      <p:grpSpPr>
        <a:xfrm>
          <a:off x="0" y="0"/>
          <a:ext cx="0" cy="0"/>
          <a:chOff x="0" y="0"/>
          <a:chExt cx="0" cy="0"/>
        </a:xfrm>
      </p:grpSpPr>
      <p:sp>
        <p:nvSpPr>
          <p:cNvPr id="299" name="Google Shape;299;p51"/>
          <p:cNvSpPr txBox="1"/>
          <p:nvPr/>
        </p:nvSpPr>
        <p:spPr>
          <a:xfrm>
            <a:off x="0" y="235775"/>
            <a:ext cx="7403100" cy="4617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b="1" lang="zh-TW" sz="1800"/>
              <a:t> Experimental Validation</a:t>
            </a:r>
            <a:endParaRPr b="1" sz="1800"/>
          </a:p>
        </p:txBody>
      </p:sp>
      <p:sp>
        <p:nvSpPr>
          <p:cNvPr id="300" name="Google Shape;300;p51"/>
          <p:cNvSpPr txBox="1"/>
          <p:nvPr/>
        </p:nvSpPr>
        <p:spPr>
          <a:xfrm>
            <a:off x="132000" y="1292700"/>
            <a:ext cx="8880000" cy="373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TW" sz="1100">
                <a:solidFill>
                  <a:schemeClr val="dk1"/>
                </a:solidFill>
              </a:rPr>
              <a:t>Test samples</a:t>
            </a:r>
            <a:r>
              <a:rPr lang="zh-TW" sz="1100">
                <a:solidFill>
                  <a:schemeClr val="dk1"/>
                </a:solidFill>
              </a:rPr>
              <a:t> include error conf, multiple log, PCAP files, covering common failure scenarios such as:</a:t>
            </a:r>
            <a:endParaRPr sz="1100">
              <a:solidFill>
                <a:schemeClr val="dk1"/>
              </a:solidFill>
            </a:endParaRPr>
          </a:p>
          <a:p>
            <a:pPr indent="-298450" lvl="0" marL="457200" rtl="0" algn="l">
              <a:lnSpc>
                <a:spcPct val="200000"/>
              </a:lnSpc>
              <a:spcBef>
                <a:spcPts val="0"/>
              </a:spcBef>
              <a:spcAft>
                <a:spcPts val="0"/>
              </a:spcAft>
              <a:buClr>
                <a:schemeClr val="dk1"/>
              </a:buClr>
              <a:buSzPts val="1100"/>
              <a:buChar char="●"/>
            </a:pPr>
            <a:r>
              <a:rPr lang="zh-TW" sz="1100">
                <a:solidFill>
                  <a:schemeClr val="dk1"/>
                </a:solidFill>
              </a:rPr>
              <a:t>Incorrect AMF IP configuration</a:t>
            </a:r>
            <a:endParaRPr sz="1100">
              <a:solidFill>
                <a:schemeClr val="dk1"/>
              </a:solidFill>
            </a:endParaRPr>
          </a:p>
          <a:p>
            <a:pPr indent="-298450" lvl="0" marL="457200" rtl="0" algn="l">
              <a:lnSpc>
                <a:spcPct val="200000"/>
              </a:lnSpc>
              <a:spcBef>
                <a:spcPts val="0"/>
              </a:spcBef>
              <a:spcAft>
                <a:spcPts val="0"/>
              </a:spcAft>
              <a:buClr>
                <a:schemeClr val="dk1"/>
              </a:buClr>
              <a:buSzPts val="1100"/>
              <a:buChar char="●"/>
            </a:pPr>
            <a:r>
              <a:rPr lang="zh-TW" sz="1100">
                <a:solidFill>
                  <a:schemeClr val="dk1"/>
                </a:solidFill>
              </a:rPr>
              <a:t>Cell search failures</a:t>
            </a:r>
            <a:endParaRPr sz="1100">
              <a:solidFill>
                <a:schemeClr val="dk1"/>
              </a:solidFill>
            </a:endParaRPr>
          </a:p>
          <a:p>
            <a:pPr indent="-298450" lvl="0" marL="457200" rtl="0" algn="l">
              <a:lnSpc>
                <a:spcPct val="200000"/>
              </a:lnSpc>
              <a:spcBef>
                <a:spcPts val="0"/>
              </a:spcBef>
              <a:spcAft>
                <a:spcPts val="0"/>
              </a:spcAft>
              <a:buClr>
                <a:schemeClr val="dk1"/>
              </a:buClr>
              <a:buSzPts val="1100"/>
              <a:buChar char="●"/>
            </a:pPr>
            <a:r>
              <a:rPr lang="zh-TW" sz="1100">
                <a:solidFill>
                  <a:schemeClr val="dk1"/>
                </a:solidFill>
              </a:rPr>
              <a:t>F1 setup failures</a:t>
            </a:r>
            <a:endParaRPr sz="1100">
              <a:solidFill>
                <a:schemeClr val="dk1"/>
              </a:solidFill>
            </a:endParaRPr>
          </a:p>
          <a:p>
            <a:pPr indent="-298450" lvl="0" marL="457200" rtl="0" algn="l">
              <a:lnSpc>
                <a:spcPct val="200000"/>
              </a:lnSpc>
              <a:spcBef>
                <a:spcPts val="0"/>
              </a:spcBef>
              <a:spcAft>
                <a:spcPts val="0"/>
              </a:spcAft>
              <a:buClr>
                <a:schemeClr val="dk1"/>
              </a:buClr>
              <a:buSzPts val="1100"/>
              <a:buChar char="●"/>
            </a:pPr>
            <a:r>
              <a:rPr lang="zh-TW" sz="1100">
                <a:solidFill>
                  <a:schemeClr val="dk1"/>
                </a:solidFill>
              </a:rPr>
              <a:t>……</a:t>
            </a:r>
            <a:endParaRPr sz="1100">
              <a:solidFill>
                <a:schemeClr val="dk1"/>
              </a:solidFill>
            </a:endParaRPr>
          </a:p>
          <a:p>
            <a:pPr indent="0" lvl="0" marL="0" rtl="0" algn="l">
              <a:lnSpc>
                <a:spcPct val="115000"/>
              </a:lnSpc>
              <a:spcBef>
                <a:spcPts val="1200"/>
              </a:spcBef>
              <a:spcAft>
                <a:spcPts val="0"/>
              </a:spcAft>
              <a:buNone/>
            </a:pPr>
            <a:r>
              <a:rPr b="1" lang="zh-TW" sz="1100">
                <a:solidFill>
                  <a:schemeClr val="dk1"/>
                </a:solidFill>
              </a:rPr>
              <a:t>Evaluation metrics</a:t>
            </a:r>
            <a:r>
              <a:rPr lang="zh-TW" sz="1100">
                <a:solidFill>
                  <a:schemeClr val="dk1"/>
                </a:solidFill>
              </a:rPr>
              <a:t> include the following:</a:t>
            </a:r>
            <a:endParaRPr sz="1100">
              <a:solidFill>
                <a:schemeClr val="dk1"/>
              </a:solidFill>
            </a:endParaRPr>
          </a:p>
          <a:p>
            <a:pPr indent="-298450" lvl="0" marL="457200" rtl="0" algn="l">
              <a:lnSpc>
                <a:spcPct val="200000"/>
              </a:lnSpc>
              <a:spcBef>
                <a:spcPts val="0"/>
              </a:spcBef>
              <a:spcAft>
                <a:spcPts val="0"/>
              </a:spcAft>
              <a:buClr>
                <a:srgbClr val="FF0000"/>
              </a:buClr>
              <a:buSzPts val="1100"/>
              <a:buChar char="●"/>
            </a:pPr>
            <a:r>
              <a:rPr b="1" lang="zh-TW" sz="1100">
                <a:solidFill>
                  <a:srgbClr val="FF0000"/>
                </a:solidFill>
              </a:rPr>
              <a:t>Context Relevance</a:t>
            </a:r>
            <a:r>
              <a:rPr lang="zh-TW" sz="1100">
                <a:solidFill>
                  <a:srgbClr val="FF0000"/>
                </a:solidFill>
              </a:rPr>
              <a:t>: Measures how semantically relevant the retrieved context is to the query</a:t>
            </a:r>
            <a:endParaRPr sz="1100">
              <a:solidFill>
                <a:srgbClr val="FF0000"/>
              </a:solidFill>
            </a:endParaRPr>
          </a:p>
          <a:p>
            <a:pPr indent="-298450" lvl="0" marL="457200" rtl="0" algn="l">
              <a:lnSpc>
                <a:spcPct val="200000"/>
              </a:lnSpc>
              <a:spcBef>
                <a:spcPts val="0"/>
              </a:spcBef>
              <a:spcAft>
                <a:spcPts val="0"/>
              </a:spcAft>
              <a:buClr>
                <a:srgbClr val="FF0000"/>
              </a:buClr>
              <a:buSzPts val="1100"/>
              <a:buChar char="●"/>
            </a:pPr>
            <a:r>
              <a:rPr b="1" lang="zh-TW" sz="1100">
                <a:solidFill>
                  <a:srgbClr val="FF0000"/>
                </a:solidFill>
              </a:rPr>
              <a:t>Answer Relevance</a:t>
            </a:r>
            <a:r>
              <a:rPr lang="zh-TW" sz="1100">
                <a:solidFill>
                  <a:srgbClr val="FF0000"/>
                </a:solidFill>
              </a:rPr>
              <a:t>: Measures whether the LLM’s response addresses the user's actual need</a:t>
            </a:r>
            <a:endParaRPr sz="1100">
              <a:solidFill>
                <a:srgbClr val="FF0000"/>
              </a:solidFill>
            </a:endParaRPr>
          </a:p>
          <a:p>
            <a:pPr indent="-298450" lvl="0" marL="457200" rtl="0" algn="l">
              <a:lnSpc>
                <a:spcPct val="200000"/>
              </a:lnSpc>
              <a:spcBef>
                <a:spcPts val="0"/>
              </a:spcBef>
              <a:spcAft>
                <a:spcPts val="0"/>
              </a:spcAft>
              <a:buClr>
                <a:schemeClr val="dk1"/>
              </a:buClr>
              <a:buSzPts val="1100"/>
              <a:buChar char="●"/>
            </a:pPr>
            <a:r>
              <a:rPr b="1" lang="zh-TW" sz="1100">
                <a:solidFill>
                  <a:schemeClr val="dk1"/>
                </a:solidFill>
              </a:rPr>
              <a:t>Groundedness</a:t>
            </a:r>
            <a:r>
              <a:rPr lang="zh-TW" sz="1100">
                <a:solidFill>
                  <a:schemeClr val="dk1"/>
                </a:solidFill>
              </a:rPr>
              <a:t>: Verifies whether the response is based on retrieved context rather than hallucination</a:t>
            </a:r>
            <a:endParaRPr sz="1100">
              <a:solidFill>
                <a:schemeClr val="dk1"/>
              </a:solidFill>
            </a:endParaRPr>
          </a:p>
          <a:p>
            <a:pPr indent="-298450" lvl="0" marL="457200" rtl="0" algn="l">
              <a:lnSpc>
                <a:spcPct val="200000"/>
              </a:lnSpc>
              <a:spcBef>
                <a:spcPts val="0"/>
              </a:spcBef>
              <a:spcAft>
                <a:spcPts val="0"/>
              </a:spcAft>
              <a:buClr>
                <a:schemeClr val="dk1"/>
              </a:buClr>
              <a:buSzPts val="1100"/>
              <a:buChar char="●"/>
            </a:pPr>
            <a:r>
              <a:rPr b="1" lang="zh-TW" sz="1100">
                <a:solidFill>
                  <a:schemeClr val="dk1"/>
                </a:solidFill>
              </a:rPr>
              <a:t>Other LLM evaluation criteria</a:t>
            </a:r>
            <a:r>
              <a:rPr lang="zh-TW" sz="1100">
                <a:solidFill>
                  <a:schemeClr val="dk1"/>
                </a:solidFill>
              </a:rPr>
              <a:t>, such as helpfulness, clarity, and consistency</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4" name="Shape 304"/>
        <p:cNvGrpSpPr/>
        <p:nvPr/>
      </p:nvGrpSpPr>
      <p:grpSpPr>
        <a:xfrm>
          <a:off x="0" y="0"/>
          <a:ext cx="0" cy="0"/>
          <a:chOff x="0" y="0"/>
          <a:chExt cx="0" cy="0"/>
        </a:xfrm>
      </p:grpSpPr>
      <p:sp>
        <p:nvSpPr>
          <p:cNvPr id="305" name="Google Shape;305;p52"/>
          <p:cNvSpPr txBox="1"/>
          <p:nvPr/>
        </p:nvSpPr>
        <p:spPr>
          <a:xfrm>
            <a:off x="0" y="0"/>
            <a:ext cx="3442200" cy="4617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1800"/>
              </a:spcBef>
              <a:spcAft>
                <a:spcPts val="0"/>
              </a:spcAft>
              <a:buClr>
                <a:schemeClr val="dk1"/>
              </a:buClr>
              <a:buSzPts val="1800"/>
              <a:buChar char="●"/>
            </a:pPr>
            <a:r>
              <a:rPr b="1" lang="zh-TW" sz="1800">
                <a:solidFill>
                  <a:schemeClr val="dk1"/>
                </a:solidFill>
              </a:rPr>
              <a:t>INTRODUCTION</a:t>
            </a:r>
            <a:endParaRPr b="1" sz="1800">
              <a:solidFill>
                <a:schemeClr val="dk1"/>
              </a:solidFill>
            </a:endParaRPr>
          </a:p>
        </p:txBody>
      </p:sp>
      <p:sp>
        <p:nvSpPr>
          <p:cNvPr id="306" name="Google Shape;306;p52"/>
          <p:cNvSpPr txBox="1"/>
          <p:nvPr/>
        </p:nvSpPr>
        <p:spPr>
          <a:xfrm>
            <a:off x="250800" y="2576250"/>
            <a:ext cx="8642400" cy="19086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Char char="●"/>
            </a:pPr>
            <a:r>
              <a:rPr lang="zh-TW">
                <a:solidFill>
                  <a:schemeClr val="dk1"/>
                </a:solidFill>
              </a:rPr>
              <a:t>This study proposes an automated tool combining LLM and RAG to address the </a:t>
            </a:r>
            <a:r>
              <a:rPr lang="zh-TW">
                <a:solidFill>
                  <a:srgbClr val="FF0000"/>
                </a:solidFill>
              </a:rPr>
              <a:t>challenges of configuration errors and manual debugging</a:t>
            </a:r>
            <a:r>
              <a:rPr lang="zh-TW">
                <a:solidFill>
                  <a:schemeClr val="dk1"/>
                </a:solidFill>
              </a:rPr>
              <a:t> in 5G O-RAN system integration.</a:t>
            </a:r>
            <a:endParaRPr>
              <a:solidFill>
                <a:schemeClr val="dk1"/>
              </a:solidFill>
            </a:endParaRPr>
          </a:p>
          <a:p>
            <a:pPr indent="0" lvl="0" marL="457200" rtl="0" algn="l">
              <a:spcBef>
                <a:spcPts val="0"/>
              </a:spcBef>
              <a:spcAft>
                <a:spcPts val="0"/>
              </a:spcAft>
              <a:buNone/>
            </a:pPr>
            <a:r>
              <a:t/>
            </a:r>
            <a:endParaRPr>
              <a:solidFill>
                <a:schemeClr val="dk1"/>
              </a:solidFill>
            </a:endParaRPr>
          </a:p>
          <a:p>
            <a:pPr indent="-317500" lvl="0" marL="457200" rtl="0" algn="l">
              <a:spcBef>
                <a:spcPts val="0"/>
              </a:spcBef>
              <a:spcAft>
                <a:spcPts val="0"/>
              </a:spcAft>
              <a:buClr>
                <a:schemeClr val="dk1"/>
              </a:buClr>
              <a:buSzPts val="1400"/>
              <a:buChar char="●"/>
            </a:pPr>
            <a:r>
              <a:rPr lang="zh-TW">
                <a:solidFill>
                  <a:schemeClr val="dk1"/>
                </a:solidFill>
              </a:rPr>
              <a:t>Traditional integration requires </a:t>
            </a:r>
            <a:r>
              <a:rPr lang="zh-TW">
                <a:solidFill>
                  <a:srgbClr val="FF0000"/>
                </a:solidFill>
              </a:rPr>
              <a:t>extensive manual effort and domain knowledge</a:t>
            </a:r>
            <a:r>
              <a:rPr lang="zh-TW">
                <a:solidFill>
                  <a:schemeClr val="dk1"/>
                </a:solidFill>
              </a:rPr>
              <a:t>, with configuration errors often causing integration failures.</a:t>
            </a:r>
            <a:endParaRPr>
              <a:solidFill>
                <a:schemeClr val="dk1"/>
              </a:solidFill>
            </a:endParaRPr>
          </a:p>
          <a:p>
            <a:pPr indent="0" lvl="0" marL="457200" rtl="0" algn="l">
              <a:spcBef>
                <a:spcPts val="0"/>
              </a:spcBef>
              <a:spcAft>
                <a:spcPts val="0"/>
              </a:spcAft>
              <a:buNone/>
            </a:pPr>
            <a:r>
              <a:t/>
            </a:r>
            <a:endParaRPr>
              <a:solidFill>
                <a:schemeClr val="dk1"/>
              </a:solidFill>
            </a:endParaRPr>
          </a:p>
          <a:p>
            <a:pPr indent="-317500" lvl="0" marL="457200" rtl="0" algn="l">
              <a:spcBef>
                <a:spcPts val="0"/>
              </a:spcBef>
              <a:spcAft>
                <a:spcPts val="0"/>
              </a:spcAft>
              <a:buClr>
                <a:schemeClr val="dk1"/>
              </a:buClr>
              <a:buSzPts val="1400"/>
              <a:buChar char="●"/>
            </a:pPr>
            <a:r>
              <a:rPr lang="zh-TW">
                <a:solidFill>
                  <a:schemeClr val="dk1"/>
                </a:solidFill>
              </a:rPr>
              <a:t>A modular, extensible, and reusable integrated debug knowledge base was developed to effectively reduce the knowledge barrier and maintenance effort for future users.</a:t>
            </a:r>
            <a:endParaRPr>
              <a:solidFill>
                <a:schemeClr val="dk1"/>
              </a:solidFill>
            </a:endParaRPr>
          </a:p>
        </p:txBody>
      </p:sp>
      <p:sp>
        <p:nvSpPr>
          <p:cNvPr id="307" name="Google Shape;307;p52"/>
          <p:cNvSpPr txBox="1"/>
          <p:nvPr/>
        </p:nvSpPr>
        <p:spPr>
          <a:xfrm>
            <a:off x="250800" y="883050"/>
            <a:ext cx="8642400" cy="1693200"/>
          </a:xfrm>
          <a:prstGeom prst="rect">
            <a:avLst/>
          </a:prstGeom>
          <a:noFill/>
          <a:ln>
            <a:noFill/>
          </a:ln>
        </p:spPr>
        <p:txBody>
          <a:bodyPr anchorCtr="0" anchor="t" bIns="91425" lIns="91425" spcFirstLastPara="1" rIns="91425" wrap="square" tIns="91425">
            <a:spAutoFit/>
          </a:bodyPr>
          <a:lstStyle/>
          <a:p>
            <a:pPr indent="-317500" lvl="0" marL="457200" rtl="0" algn="just">
              <a:lnSpc>
                <a:spcPct val="150000"/>
              </a:lnSpc>
              <a:spcBef>
                <a:spcPts val="0"/>
              </a:spcBef>
              <a:spcAft>
                <a:spcPts val="0"/>
              </a:spcAft>
              <a:buSzPts val="1400"/>
              <a:buFont typeface="Microsoft JhengHei"/>
              <a:buChar char="●"/>
            </a:pPr>
            <a:r>
              <a:rPr b="1" lang="zh-TW">
                <a:latin typeface="Microsoft JhengHei"/>
                <a:ea typeface="Microsoft JhengHei"/>
                <a:cs typeface="Microsoft JhengHei"/>
                <a:sym typeface="Microsoft JhengHei"/>
              </a:rPr>
              <a:t>Problem: </a:t>
            </a:r>
            <a:endParaRPr b="1">
              <a:latin typeface="Microsoft JhengHei"/>
              <a:ea typeface="Microsoft JhengHei"/>
              <a:cs typeface="Microsoft JhengHei"/>
              <a:sym typeface="Microsoft JhengHei"/>
            </a:endParaRPr>
          </a:p>
          <a:p>
            <a:pPr indent="-317500" lvl="1" marL="914400" rtl="0" algn="just">
              <a:lnSpc>
                <a:spcPct val="150000"/>
              </a:lnSpc>
              <a:spcBef>
                <a:spcPts val="0"/>
              </a:spcBef>
              <a:spcAft>
                <a:spcPts val="0"/>
              </a:spcAft>
              <a:buSzPts val="1400"/>
              <a:buFont typeface="Microsoft JhengHei"/>
              <a:buChar char="○"/>
            </a:pPr>
            <a:r>
              <a:rPr lang="zh-TW">
                <a:latin typeface="Microsoft JhengHei"/>
                <a:ea typeface="Microsoft JhengHei"/>
                <a:cs typeface="Microsoft JhengHei"/>
                <a:sym typeface="Microsoft JhengHei"/>
              </a:rPr>
              <a:t>gNB and RU integration is "time-consuming and labor-intensive"</a:t>
            </a:r>
            <a:endParaRPr>
              <a:latin typeface="Microsoft JhengHei"/>
              <a:ea typeface="Microsoft JhengHei"/>
              <a:cs typeface="Microsoft JhengHei"/>
              <a:sym typeface="Microsoft JhengHei"/>
            </a:endParaRPr>
          </a:p>
          <a:p>
            <a:pPr indent="-317500" lvl="0" marL="457200" rtl="0" algn="just">
              <a:lnSpc>
                <a:spcPct val="150000"/>
              </a:lnSpc>
              <a:spcBef>
                <a:spcPts val="0"/>
              </a:spcBef>
              <a:spcAft>
                <a:spcPts val="0"/>
              </a:spcAft>
              <a:buClr>
                <a:schemeClr val="dk1"/>
              </a:buClr>
              <a:buSzPts val="1400"/>
              <a:buFont typeface="Microsoft JhengHei"/>
              <a:buChar char="●"/>
            </a:pPr>
            <a:r>
              <a:rPr b="1" lang="zh-TW">
                <a:solidFill>
                  <a:schemeClr val="dk1"/>
                </a:solidFill>
                <a:latin typeface="Microsoft JhengHei"/>
                <a:ea typeface="Microsoft JhengHei"/>
                <a:cs typeface="Microsoft JhengHei"/>
                <a:sym typeface="Microsoft JhengHei"/>
              </a:rPr>
              <a:t>Challenge: </a:t>
            </a:r>
            <a:endParaRPr b="1">
              <a:solidFill>
                <a:schemeClr val="dk1"/>
              </a:solidFill>
              <a:latin typeface="Microsoft JhengHei"/>
              <a:ea typeface="Microsoft JhengHei"/>
              <a:cs typeface="Microsoft JhengHei"/>
              <a:sym typeface="Microsoft JhengHei"/>
            </a:endParaRPr>
          </a:p>
          <a:p>
            <a:pPr indent="-317500" lvl="1" marL="914400" rtl="0" algn="just">
              <a:lnSpc>
                <a:spcPct val="150000"/>
              </a:lnSpc>
              <a:spcBef>
                <a:spcPts val="0"/>
              </a:spcBef>
              <a:spcAft>
                <a:spcPts val="0"/>
              </a:spcAft>
              <a:buClr>
                <a:schemeClr val="dk1"/>
              </a:buClr>
              <a:buSzPts val="1400"/>
              <a:buFont typeface="Microsoft JhengHei"/>
              <a:buChar char="○"/>
            </a:pPr>
            <a:r>
              <a:rPr b="1" lang="zh-TW">
                <a:solidFill>
                  <a:schemeClr val="dk1"/>
                </a:solidFill>
                <a:latin typeface="Microsoft JhengHei"/>
                <a:ea typeface="Microsoft JhengHei"/>
                <a:cs typeface="Microsoft JhengHei"/>
                <a:sym typeface="Microsoft JhengHei"/>
              </a:rPr>
              <a:t>gNB and RU settings are very complex, requiring professional skills to interpret PCAP and Log</a:t>
            </a:r>
            <a:endParaRPr>
              <a:latin typeface="Microsoft JhengHei"/>
              <a:ea typeface="Microsoft JhengHei"/>
              <a:cs typeface="Microsoft JhengHei"/>
              <a:sym typeface="Microsoft JhengHe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